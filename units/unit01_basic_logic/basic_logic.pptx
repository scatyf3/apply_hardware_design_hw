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8" r:id="rId2"/>
    <p:sldId id="271" r:id="rId3"/>
    <p:sldId id="382" r:id="rId4"/>
    <p:sldId id="278" r:id="rId5"/>
    <p:sldId id="279" r:id="rId6"/>
    <p:sldId id="283" r:id="rId7"/>
    <p:sldId id="284" r:id="rId8"/>
    <p:sldId id="339" r:id="rId9"/>
    <p:sldId id="280" r:id="rId10"/>
    <p:sldId id="336" r:id="rId11"/>
    <p:sldId id="300" r:id="rId12"/>
    <p:sldId id="301" r:id="rId13"/>
    <p:sldId id="302" r:id="rId14"/>
    <p:sldId id="359" r:id="rId15"/>
    <p:sldId id="360" r:id="rId16"/>
    <p:sldId id="362" r:id="rId17"/>
    <p:sldId id="361" r:id="rId18"/>
    <p:sldId id="364" r:id="rId19"/>
    <p:sldId id="306" r:id="rId20"/>
    <p:sldId id="355" r:id="rId21"/>
    <p:sldId id="363" r:id="rId22"/>
    <p:sldId id="356" r:id="rId23"/>
    <p:sldId id="366" r:id="rId24"/>
    <p:sldId id="365" r:id="rId25"/>
    <p:sldId id="352" r:id="rId26"/>
    <p:sldId id="354" r:id="rId27"/>
    <p:sldId id="353" r:id="rId28"/>
    <p:sldId id="367" r:id="rId29"/>
    <p:sldId id="358" r:id="rId30"/>
    <p:sldId id="357" r:id="rId31"/>
    <p:sldId id="368" r:id="rId32"/>
    <p:sldId id="303" r:id="rId33"/>
    <p:sldId id="308" r:id="rId34"/>
    <p:sldId id="309" r:id="rId35"/>
    <p:sldId id="346" r:id="rId36"/>
    <p:sldId id="312" r:id="rId37"/>
    <p:sldId id="348" r:id="rId38"/>
    <p:sldId id="320" r:id="rId39"/>
    <p:sldId id="349" r:id="rId40"/>
    <p:sldId id="351" r:id="rId41"/>
    <p:sldId id="369" r:id="rId42"/>
    <p:sldId id="341" r:id="rId43"/>
    <p:sldId id="377" r:id="rId44"/>
    <p:sldId id="370" r:id="rId45"/>
    <p:sldId id="371" r:id="rId46"/>
    <p:sldId id="330" r:id="rId47"/>
    <p:sldId id="329" r:id="rId48"/>
    <p:sldId id="381" r:id="rId49"/>
    <p:sldId id="331" r:id="rId50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D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/>
              <a:t>Unit 1 </a:t>
            </a:r>
            <a:br>
              <a:rPr lang="en-US" sz="6600"/>
            </a:br>
            <a:r>
              <a:rPr lang="en-US" sz="6600"/>
              <a:t>Basic Digital Logic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simple functions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 </a:t>
            </a:r>
            <a:r>
              <a:rPr lang="en-US" dirty="0"/>
              <a:t>in </a:t>
            </a:r>
            <a:r>
              <a:rPr lang="en-US" dirty="0" err="1"/>
              <a:t>SystemVerilog</a:t>
            </a:r>
            <a:r>
              <a:rPr lang="en-US" dirty="0"/>
              <a:t> and draw block diagrams</a:t>
            </a:r>
          </a:p>
          <a:p>
            <a:r>
              <a:rPr lang="en-US" dirty="0"/>
              <a:t>Define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state machines </a:t>
            </a:r>
            <a:r>
              <a:rPr lang="en-US" dirty="0">
                <a:solidFill>
                  <a:schemeClr val="tx1"/>
                </a:solidFill>
              </a:rPr>
              <a:t>and identify inputs, outputs, and states </a:t>
            </a:r>
          </a:p>
          <a:p>
            <a:r>
              <a:rPr lang="en-US" dirty="0">
                <a:solidFill>
                  <a:schemeClr val="tx1"/>
                </a:solidFill>
              </a:rPr>
              <a:t>Implement FSMs with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synchronous logic </a:t>
            </a:r>
            <a:r>
              <a:rPr lang="en-US" dirty="0"/>
              <a:t>in </a:t>
            </a:r>
            <a:r>
              <a:rPr lang="en-US" dirty="0" err="1"/>
              <a:t>SystemVerilog</a:t>
            </a:r>
            <a:endParaRPr lang="en-US" dirty="0"/>
          </a:p>
          <a:p>
            <a:r>
              <a:rPr lang="en-US" dirty="0"/>
              <a:t>Break and implement functions over multiple clock cycles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Write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testbench</a:t>
            </a:r>
            <a:r>
              <a:rPr lang="en-US" dirty="0"/>
              <a:t> for the hardware modules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Simulate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</a:t>
            </a:r>
            <a:r>
              <a:rPr lang="en-US" dirty="0"/>
              <a:t> the </a:t>
            </a:r>
            <a:r>
              <a:rPr lang="en-US" dirty="0" err="1"/>
              <a:t>SystemVerilog</a:t>
            </a:r>
            <a:r>
              <a:rPr lang="en-US" dirty="0"/>
              <a:t> using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Vivado</a:t>
            </a:r>
            <a:r>
              <a:rPr lang="en-US" dirty="0"/>
              <a:t> tools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845C-BCAD-396A-C64F-8770C9AD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0C8C-938F-B997-61B3-C4388708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85B0B-0257-7161-0C53-CBBB59E3A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D50CF-D8E8-1B59-CDF3-218EEE22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9B352B0-3CBE-B193-3D94-64912B43BC66}"/>
              </a:ext>
            </a:extLst>
          </p:cNvPr>
          <p:cNvSpPr/>
          <p:nvPr/>
        </p:nvSpPr>
        <p:spPr>
          <a:xfrm>
            <a:off x="434276" y="1493710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9AD-C4E3-E69C-1A9B-E391E0A3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Goal</a:t>
                </a:r>
                <a:r>
                  <a:rPr lang="en-US" sz="2400" dirty="0"/>
                  <a:t>:  Implement a module for the function</a:t>
                </a: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lvl="1"/>
                <a:r>
                  <a:rPr lang="en-US" sz="2400" dirty="0"/>
                  <a:t>Linear function + </a:t>
                </a:r>
                <a:r>
                  <a:rPr lang="en-US" sz="2400" dirty="0" err="1"/>
                  <a:t>ReLU</a:t>
                </a:r>
                <a:endParaRPr lang="en-US" sz="2400" dirty="0"/>
              </a:p>
              <a:p>
                <a:pPr lvl="1"/>
                <a:r>
                  <a:rPr lang="en-US" sz="2400" dirty="0"/>
                  <a:t>Used widely in machine learning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1B6C6-52C3-B217-47F8-F3F70581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1FFF23-8720-B06E-AFD6-9918105B9306}"/>
              </a:ext>
            </a:extLst>
          </p:cNvPr>
          <p:cNvSpPr/>
          <p:nvPr/>
        </p:nvSpPr>
        <p:spPr>
          <a:xfrm>
            <a:off x="4773792" y="3704185"/>
            <a:ext cx="1990725" cy="1957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4DBA75-1DA1-3B37-064C-D0CD4B024C95}"/>
              </a:ext>
            </a:extLst>
          </p:cNvPr>
          <p:cNvCxnSpPr/>
          <p:nvPr/>
        </p:nvCxnSpPr>
        <p:spPr>
          <a:xfrm>
            <a:off x="3268842" y="421377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4785C0-8EA6-26C6-0F51-78BFECB37F58}"/>
              </a:ext>
            </a:extLst>
          </p:cNvPr>
          <p:cNvCxnSpPr/>
          <p:nvPr/>
        </p:nvCxnSpPr>
        <p:spPr>
          <a:xfrm>
            <a:off x="3268842" y="507102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C9CE2-EB87-E202-5CB2-D6E50B4E525C}"/>
              </a:ext>
            </a:extLst>
          </p:cNvPr>
          <p:cNvCxnSpPr>
            <a:cxnSpLocks/>
          </p:cNvCxnSpPr>
          <p:nvPr/>
        </p:nvCxnSpPr>
        <p:spPr>
          <a:xfrm>
            <a:off x="6764517" y="4604297"/>
            <a:ext cx="13081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B4964D-ABD3-D4C7-D031-49F37CBFB325}"/>
              </a:ext>
            </a:extLst>
          </p:cNvPr>
          <p:cNvCxnSpPr/>
          <p:nvPr/>
        </p:nvCxnSpPr>
        <p:spPr>
          <a:xfrm>
            <a:off x="3268842" y="4604297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/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/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/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/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7A75226-4D24-50E7-4529-BB8CAA71C664}"/>
              </a:ext>
            </a:extLst>
          </p:cNvPr>
          <p:cNvSpPr txBox="1"/>
          <p:nvPr/>
        </p:nvSpPr>
        <p:spPr>
          <a:xfrm>
            <a:off x="8645506" y="438731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Output port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0F934-71D4-864A-E2F6-8243F49EF94A}"/>
              </a:ext>
            </a:extLst>
          </p:cNvPr>
          <p:cNvSpPr txBox="1"/>
          <p:nvPr/>
        </p:nvSpPr>
        <p:spPr>
          <a:xfrm>
            <a:off x="1036320" y="4435810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Input ports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7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BE07-C2AC-5C81-2EDC-B0E0254C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53BA-A695-433E-9E77-354D19D91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Language for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behavioral</a:t>
            </a:r>
            <a:r>
              <a:rPr lang="en-US" sz="2000" dirty="0"/>
              <a:t> description</a:t>
            </a:r>
          </a:p>
          <a:p>
            <a:pPr lvl="1"/>
            <a:r>
              <a:rPr lang="en-US" sz="2000" dirty="0"/>
              <a:t>What the module should do</a:t>
            </a:r>
          </a:p>
          <a:p>
            <a:r>
              <a:rPr lang="en-US" dirty="0"/>
              <a:t>Each block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pPr lvl="1"/>
            <a:r>
              <a:rPr lang="en-US" sz="2000" dirty="0"/>
              <a:t>Has inputs and outputs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r>
              <a:rPr lang="en-US" dirty="0"/>
              <a:t>Description is behavioral only</a:t>
            </a:r>
          </a:p>
          <a:p>
            <a:pPr lvl="1"/>
            <a:r>
              <a:rPr lang="en-US" sz="2000" dirty="0"/>
              <a:t>Does not say how it will be implemented</a:t>
            </a:r>
          </a:p>
          <a:p>
            <a:pPr lvl="1"/>
            <a:r>
              <a:rPr lang="en-US" sz="2000" dirty="0"/>
              <a:t>We discuss that later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4595-A4AA-901B-7B0B-A65349D8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82BF0-FDB7-2E1E-B0BF-D180FA52E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26" y="1614292"/>
            <a:ext cx="5810386" cy="37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9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A406-C087-AB7C-47F9-FED63439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301ED-9208-D7AA-D795-350EBF39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70" y="1846785"/>
            <a:ext cx="5459585" cy="35547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C2159-E556-D33C-8A01-715E0748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Components in 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1CA8-D911-EA40-0FF4-939AE9B18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630" y="1846785"/>
            <a:ext cx="4998720" cy="362628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Module name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Ports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Defines inputs and outputs</a:t>
            </a:r>
          </a:p>
          <a:p>
            <a:pPr lvl="1"/>
            <a:r>
              <a:rPr lang="en-US" sz="2000" dirty="0"/>
              <a:t>Each has a type (more detail later)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Behavioral description</a:t>
            </a:r>
          </a:p>
          <a:p>
            <a:pPr lvl="1"/>
            <a:r>
              <a:rPr lang="en-US" sz="2000" dirty="0"/>
              <a:t>In this case, a </a:t>
            </a:r>
            <a:r>
              <a:rPr lang="en-US" sz="2000" dirty="0">
                <a:solidFill>
                  <a:schemeClr val="accent1"/>
                </a:solidFill>
              </a:rPr>
              <a:t>combinational block</a:t>
            </a:r>
          </a:p>
          <a:p>
            <a:pPr lvl="1"/>
            <a:r>
              <a:rPr lang="en-US" sz="2000" dirty="0"/>
              <a:t>Sequence of operations </a:t>
            </a:r>
          </a:p>
          <a:p>
            <a:pPr lvl="1"/>
            <a:r>
              <a:rPr lang="en-US" sz="2000" dirty="0"/>
              <a:t>From input to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95E58-6885-B715-15DD-C341EFBA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68288-6B4D-8BAE-83B3-B324FD6066C3}"/>
              </a:ext>
            </a:extLst>
          </p:cNvPr>
          <p:cNvCxnSpPr>
            <a:cxnSpLocks/>
          </p:cNvCxnSpPr>
          <p:nvPr/>
        </p:nvCxnSpPr>
        <p:spPr>
          <a:xfrm flipH="1">
            <a:off x="4519613" y="2709863"/>
            <a:ext cx="177509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4FEB2-86CF-D95C-922C-7DB2B6F95159}"/>
              </a:ext>
            </a:extLst>
          </p:cNvPr>
          <p:cNvCxnSpPr>
            <a:cxnSpLocks/>
          </p:cNvCxnSpPr>
          <p:nvPr/>
        </p:nvCxnSpPr>
        <p:spPr>
          <a:xfrm flipH="1">
            <a:off x="5627371" y="4443413"/>
            <a:ext cx="78127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3C4718-A8C2-673E-C4C5-A5E50B89D2D9}"/>
              </a:ext>
            </a:extLst>
          </p:cNvPr>
          <p:cNvCxnSpPr>
            <a:cxnSpLocks/>
          </p:cNvCxnSpPr>
          <p:nvPr/>
        </p:nvCxnSpPr>
        <p:spPr>
          <a:xfrm flipH="1">
            <a:off x="3443288" y="2000552"/>
            <a:ext cx="304844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F688-1E1C-DE63-651F-86BBFB21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vs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FDDC-091C-3DB4-2329-A530676D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Verilog</a:t>
            </a:r>
          </a:p>
          <a:p>
            <a:pPr lvl="1"/>
            <a:r>
              <a:rPr lang="en-US" sz="2200" dirty="0"/>
              <a:t>Created in 1983-84</a:t>
            </a:r>
          </a:p>
          <a:p>
            <a:pPr lvl="1"/>
            <a:r>
              <a:rPr lang="en-US" sz="2200" dirty="0"/>
              <a:t>Standardized in 1995.  Became mainstream RTL</a:t>
            </a:r>
          </a:p>
          <a:p>
            <a:pPr lvl="1"/>
            <a:r>
              <a:rPr lang="en-US" sz="2200" dirty="0"/>
              <a:t>Largely used for legacy designs</a:t>
            </a:r>
          </a:p>
          <a:p>
            <a:pPr lvl="1"/>
            <a:endParaRPr lang="en-US" sz="2200" dirty="0"/>
          </a:p>
          <a:p>
            <a:r>
              <a:rPr lang="en-US" sz="2400" dirty="0">
                <a:solidFill>
                  <a:schemeClr val="accent1"/>
                </a:solidFill>
              </a:rPr>
              <a:t>System Verilog (this unit)</a:t>
            </a:r>
          </a:p>
          <a:p>
            <a:pPr lvl="1"/>
            <a:r>
              <a:rPr lang="en-US" sz="2200" dirty="0"/>
              <a:t>Developed in 2002</a:t>
            </a:r>
          </a:p>
          <a:p>
            <a:pPr lvl="1"/>
            <a:r>
              <a:rPr lang="en-US" sz="2200" dirty="0"/>
              <a:t>Extends Verilog</a:t>
            </a:r>
          </a:p>
          <a:p>
            <a:pPr lvl="1"/>
            <a:r>
              <a:rPr lang="en-US" sz="2200" dirty="0"/>
              <a:t>Better abstraction, parameterization</a:t>
            </a:r>
          </a:p>
          <a:p>
            <a:pPr lvl="1"/>
            <a:r>
              <a:rPr lang="en-US" sz="2200" dirty="0"/>
              <a:t>Significantly improved testbench</a:t>
            </a:r>
          </a:p>
          <a:p>
            <a:pPr lvl="1"/>
            <a:r>
              <a:rPr lang="en-US" sz="2200" dirty="0"/>
              <a:t>Overwhelming design choice today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3BFB3-6F6A-C9D6-82A5-AE6CA8DB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4098" name="Picture 2" descr="Guide to Verilog — Beginner Guide | by ...">
            <a:extLst>
              <a:ext uri="{FF2B5EF4-FFF2-40B4-BE49-F238E27FC236}">
                <a16:creationId xmlns:a16="http://schemas.microsoft.com/office/drawing/2014/main" id="{ADD75851-13C6-B643-8109-36384477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2010056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n open source SystemVerilog Test Suite">
            <a:extLst>
              <a:ext uri="{FF2B5EF4-FFF2-40B4-BE49-F238E27FC236}">
                <a16:creationId xmlns:a16="http://schemas.microsoft.com/office/drawing/2014/main" id="{801DBC8A-FE69-D5CD-7DDD-73B2C46A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3603644"/>
            <a:ext cx="3395329" cy="178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90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3AC3-C705-F782-67B5-B0A4B84A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3923-5E7C-A69A-B682-3FEF8E791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088" y="3023840"/>
            <a:ext cx="9863592" cy="28452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Most of the modules we will write use the above three data types</a:t>
            </a:r>
          </a:p>
          <a:p>
            <a:r>
              <a:rPr lang="en-US" dirty="0"/>
              <a:t>Specifies:</a:t>
            </a:r>
          </a:p>
          <a:p>
            <a:pPr lvl="1"/>
            <a:r>
              <a:rPr lang="en-US" dirty="0"/>
              <a:t>Bit width</a:t>
            </a:r>
          </a:p>
          <a:p>
            <a:pPr lvl="1"/>
            <a:r>
              <a:rPr lang="en-US" dirty="0"/>
              <a:t>Signed or unsigned</a:t>
            </a:r>
          </a:p>
          <a:p>
            <a:r>
              <a:rPr lang="en-US" dirty="0"/>
              <a:t>Logic keyword:</a:t>
            </a:r>
          </a:p>
          <a:p>
            <a:pPr lvl="1"/>
            <a:r>
              <a:rPr lang="en-US" dirty="0"/>
              <a:t>Indicates that a bit can 0, 1, X or Z</a:t>
            </a:r>
          </a:p>
          <a:p>
            <a:pPr lvl="1"/>
            <a:r>
              <a:rPr lang="en-US" dirty="0"/>
              <a:t>X = unknown / undefined, Z = high impedance (disconnected) </a:t>
            </a:r>
          </a:p>
          <a:p>
            <a:pPr lvl="1"/>
            <a:r>
              <a:rPr lang="en-US" dirty="0"/>
              <a:t>We will discuss X and Z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16A83-FE31-5AB6-905E-93FCEBB2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4587B3-8A29-3FFB-1DF2-9C2BAD691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27" y="1642522"/>
            <a:ext cx="6658904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2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D784-9A01-55DB-D193-0DE0BF6F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04E1-70CB-65A5-6FD8-98DF333F2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of a module typically represented by a </a:t>
            </a:r>
            <a:r>
              <a:rPr lang="en-US" dirty="0">
                <a:solidFill>
                  <a:schemeClr val="accent1"/>
                </a:solidFill>
              </a:rPr>
              <a:t>block diagram</a:t>
            </a:r>
          </a:p>
          <a:p>
            <a:r>
              <a:rPr lang="en-US" dirty="0"/>
              <a:t>Graphical representation of a potential implementation</a:t>
            </a:r>
          </a:p>
          <a:p>
            <a:r>
              <a:rPr lang="en-US" dirty="0"/>
              <a:t>Typically, diagram is at high-level</a:t>
            </a:r>
          </a:p>
          <a:p>
            <a:pPr lvl="1"/>
            <a:r>
              <a:rPr lang="en-US" dirty="0"/>
              <a:t>Adders, multipliers not low-level details components like gates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0CB96-3F47-24B5-9142-7743E60A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233B5-D650-2A86-938A-F2909D3D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083" y="3166235"/>
            <a:ext cx="7724119" cy="23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8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2F31-3203-5115-2596-EBC50D16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8E12-525A-63AB-0A6F-6D430073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9F26-0689-9C02-1517-96591E92B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22D8-678A-1358-2D01-61E3D624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E4DF5AC-F564-EFD6-6310-8AE29B223504}"/>
              </a:ext>
            </a:extLst>
          </p:cNvPr>
          <p:cNvSpPr/>
          <p:nvPr/>
        </p:nvSpPr>
        <p:spPr>
          <a:xfrm>
            <a:off x="462851" y="194614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0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6CA79D-EBD9-AA57-8A75-5919CEF3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08" y="3828056"/>
            <a:ext cx="6037276" cy="1854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1CEB7-614C-5A0C-3EAF-0455FA1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1DD7-A95F-2051-72C0-1B345C98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memory — cannot store past values</a:t>
            </a:r>
          </a:p>
          <a:p>
            <a:r>
              <a:rPr lang="en-US" dirty="0"/>
              <a:t>Output changes immediately with input changes (no control over timing)</a:t>
            </a:r>
          </a:p>
          <a:p>
            <a:r>
              <a:rPr lang="en-US" dirty="0"/>
              <a:t>Long combinational paths lead to large propagation delays</a:t>
            </a:r>
          </a:p>
          <a:p>
            <a:r>
              <a:rPr lang="en-US" dirty="0"/>
              <a:t>Hard to build large systems without controlled timing boundaries</a:t>
            </a:r>
          </a:p>
          <a:p>
            <a:r>
              <a:rPr lang="en-US" dirty="0"/>
              <a:t>Glitches and hazards can propagate freely</a:t>
            </a:r>
          </a:p>
          <a:p>
            <a:r>
              <a:rPr lang="en-US" dirty="0"/>
              <a:t>No notion of “steps” or “cycles” — everything is continuous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AA4B0-CBC0-DC73-9E26-F3484FB7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4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D911-3BF4-D32D-0851-6EEAC370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(Sequential)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832D-5242-3E39-8CC3-5BE1BCC6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>
                <a:solidFill>
                  <a:schemeClr val="accent1"/>
                </a:solidFill>
              </a:rPr>
              <a:t>state</a:t>
            </a:r>
            <a:r>
              <a:rPr lang="en-US" dirty="0"/>
              <a:t> via </a:t>
            </a:r>
            <a:r>
              <a:rPr lang="en-US" dirty="0">
                <a:solidFill>
                  <a:schemeClr val="accent1"/>
                </a:solidFill>
              </a:rPr>
              <a:t>flip‑flops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registers</a:t>
            </a:r>
          </a:p>
          <a:p>
            <a:r>
              <a:rPr lang="en-US" dirty="0"/>
              <a:t>Breaks long logic into </a:t>
            </a:r>
            <a:r>
              <a:rPr lang="en-US" dirty="0">
                <a:solidFill>
                  <a:schemeClr val="accent1"/>
                </a:solidFill>
              </a:rPr>
              <a:t>clocked stages</a:t>
            </a:r>
            <a:r>
              <a:rPr lang="en-US" dirty="0"/>
              <a:t>, improving performance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1"/>
                </a:solidFill>
              </a:rPr>
              <a:t>predictable timing </a:t>
            </a:r>
            <a:r>
              <a:rPr lang="en-US" dirty="0"/>
              <a:t>— changes only occur on clock edges</a:t>
            </a:r>
          </a:p>
          <a:p>
            <a:r>
              <a:rPr lang="en-US" dirty="0"/>
              <a:t>Makes large systems modular and easier to reason about</a:t>
            </a:r>
          </a:p>
          <a:p>
            <a:r>
              <a:rPr lang="en-US" dirty="0"/>
              <a:t>Eliminates most hazards/glitches from propagating across stages</a:t>
            </a:r>
          </a:p>
          <a:p>
            <a:r>
              <a:rPr lang="en-US" dirty="0"/>
              <a:t>Enables pipelining, finite‑state machines, and sequential algorithms</a:t>
            </a:r>
          </a:p>
          <a:p>
            <a:r>
              <a:rPr lang="en-US" dirty="0"/>
              <a:t>Allows clean interfaces between modules (valid/ready, handshakes,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20C8-93C4-94D3-F760-A89275C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26C523-87AC-2853-856A-0E6B98452D41}"/>
              </a:ext>
            </a:extLst>
          </p:cNvPr>
          <p:cNvSpPr/>
          <p:nvPr/>
        </p:nvSpPr>
        <p:spPr>
          <a:xfrm>
            <a:off x="1681162" y="4861523"/>
            <a:ext cx="7705726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Synchronous logic is the dominant paradigm for design </a:t>
            </a:r>
          </a:p>
        </p:txBody>
      </p:sp>
    </p:spTree>
    <p:extLst>
      <p:ext uri="{BB962C8B-B14F-4D97-AF65-F5344CB8AC3E}">
        <p14:creationId xmlns:p14="http://schemas.microsoft.com/office/powerpoint/2010/main" val="91088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BDCC-D4A7-DD40-30B1-14C265FC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Clock</a:t>
                </a:r>
                <a:r>
                  <a:rPr lang="en-US" sz="2400" dirty="0"/>
                  <a:t>:  An alternating binary signal</a:t>
                </a:r>
              </a:p>
              <a:p>
                <a:pPr lvl="1"/>
                <a:r>
                  <a:rPr lang="en-US" sz="2000" dirty="0"/>
                  <a:t>Visualized as a square wave</a:t>
                </a:r>
              </a:p>
              <a:p>
                <a:r>
                  <a:rPr lang="en-US" sz="2400" dirty="0"/>
                  <a:t>Each period is called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clock cycle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Typically, between two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rising edges</a:t>
                </a:r>
              </a:p>
              <a:p>
                <a:r>
                  <a:rPr lang="en-US" sz="2400" dirty="0"/>
                  <a:t>Parameters:</a:t>
                </a:r>
              </a:p>
              <a:p>
                <a:pPr lvl="1"/>
                <a:r>
                  <a:rPr lang="en-US" sz="2000" dirty="0"/>
                  <a:t>Clock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period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Frequency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Typical parameters:</a:t>
                </a:r>
              </a:p>
              <a:p>
                <a:pPr lvl="1"/>
                <a:r>
                  <a:rPr lang="en-US" sz="2000" dirty="0"/>
                  <a:t>FPGA logic: 100 to 500 MHz</a:t>
                </a:r>
              </a:p>
              <a:p>
                <a:pPr lvl="1"/>
                <a:r>
                  <a:rPr lang="en-US" sz="2000" dirty="0"/>
                  <a:t>ASIC:  500 MHz to 1 GHz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3B641-E06B-52DB-F256-2E5D9026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61ACB54-5B4E-B9B7-3F31-46A05A56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5" y="3209925"/>
            <a:ext cx="50768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787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001B-5CDD-0C08-9994-603839E9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4C8E-D7AE-847E-B2BC-5DECC8A2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Logic Example:  Counter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Synchronous logic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Updates occur on each clock cycle</a:t>
                </a:r>
              </a:p>
              <a:p>
                <a:r>
                  <a:rPr lang="en-US" sz="2400" dirty="0"/>
                  <a:t>Simple example:  A down-counter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Potential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specification</a:t>
                </a:r>
                <a:r>
                  <a:rPr lang="en-US" sz="2400" dirty="0"/>
                  <a:t>:   On clock cycle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:</a:t>
                </a:r>
                <a:br>
                  <a:rPr lang="en-US" sz="2400" dirty="0"/>
                </a:br>
                <a:endParaRPr lang="en-US" sz="24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endParaRPr lang="en-US" sz="2000" dirty="0"/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  <a:blipFill>
                <a:blip r:embed="rId2"/>
                <a:stretch>
                  <a:fillRect l="-193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779C-2C51-396A-7C04-105794CB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𝑡𝑎𝑟𝑡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𝑖𝑛𝑖𝑡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1" t="-8197" r="-3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41" t="-8197" r="-2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935" t="-8197" r="-103226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8197" r="-2564" b="-10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188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69F-E960-7EBF-9A7A-E20B8D7D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a Module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Counter example from previous slide: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Inputs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𝑠𝑡𝑎𝑟𝑡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𝑖𝑛𝑖𝑡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the module takes as input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Output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What the module produces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State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needs to be stored to compute the subsequent outputs given the inputs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8DB8-E5A5-401D-44BF-0EDD9DE8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6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19E3-E031-B332-BA09-D380FA32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State?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Definition</a:t>
                </a:r>
                <a:r>
                  <a:rPr lang="en-US" sz="2400" dirty="0"/>
                  <a:t>:  A state is a set of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such that: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Outputs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sz="2000" dirty="0"/>
                  <a:t>  are fully determined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 our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is the state 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future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We can fully determine future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cnt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4B395-3606-E2C9-AF37-B6D57983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6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6C9C-86E3-6FD7-24AC-0620FF1A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 as an FSM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 finite state machine</a:t>
                </a:r>
              </a:p>
              <a:p>
                <a:r>
                  <a:rPr lang="en-US" dirty="0"/>
                  <a:t>Update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𝑖𝑛𝑝𝑢𝑡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Describes how the state evolves</a:t>
                </a:r>
              </a:p>
              <a:p>
                <a:r>
                  <a:rPr lang="en-US" dirty="0"/>
                  <a:t>Output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5E66-F2F1-5EBE-2CB5-F1B29CBB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2E1A8E-BF4A-1FF6-B1B6-00E4E151FB09}"/>
              </a:ext>
            </a:extLst>
          </p:cNvPr>
          <p:cNvSpPr/>
          <p:nvPr/>
        </p:nvSpPr>
        <p:spPr>
          <a:xfrm>
            <a:off x="6174180" y="27428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/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blipFill>
                <a:blip r:embed="rId3"/>
                <a:stretch>
                  <a:fillRect l="-5732" t="-10000" r="-19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7B0294-A559-F542-4D70-4DD3E8EE4C43}"/>
              </a:ext>
            </a:extLst>
          </p:cNvPr>
          <p:cNvSpPr/>
          <p:nvPr/>
        </p:nvSpPr>
        <p:spPr>
          <a:xfrm>
            <a:off x="7844706" y="2742863"/>
            <a:ext cx="2537733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4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/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blipFill>
                <a:blip r:embed="rId5"/>
                <a:stretch>
                  <a:fillRect l="-494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2A7DC9-2474-4F2B-B5F6-770D457BFE0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113573" y="2067699"/>
            <a:ext cx="0" cy="675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28343B-40F7-6868-0386-5943221E2280}"/>
              </a:ext>
            </a:extLst>
          </p:cNvPr>
          <p:cNvCxnSpPr>
            <a:cxnSpLocks/>
          </p:cNvCxnSpPr>
          <p:nvPr/>
        </p:nvCxnSpPr>
        <p:spPr>
          <a:xfrm>
            <a:off x="10370776" y="308661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249E9-9475-CCCD-A268-C49461BE456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587438" y="33088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92ECBB-3CBD-7825-5995-801A2D94AB08}"/>
              </a:ext>
            </a:extLst>
          </p:cNvPr>
          <p:cNvCxnSpPr>
            <a:cxnSpLocks/>
          </p:cNvCxnSpPr>
          <p:nvPr/>
        </p:nvCxnSpPr>
        <p:spPr>
          <a:xfrm>
            <a:off x="10382439" y="3576236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A7E88D-4E73-876A-B140-896DFBC4F94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880734" y="33088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CEC02BB-F66D-2284-9CC1-D87B7E2F16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87438" y="3571585"/>
            <a:ext cx="5643010" cy="1419135"/>
          </a:xfrm>
          <a:prstGeom prst="bentConnector3">
            <a:avLst>
              <a:gd name="adj1" fmla="val -8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714D26-FE03-048C-8AC3-BE39C25D425B}"/>
              </a:ext>
            </a:extLst>
          </p:cNvPr>
          <p:cNvCxnSpPr>
            <a:cxnSpLocks/>
          </p:cNvCxnSpPr>
          <p:nvPr/>
        </p:nvCxnSpPr>
        <p:spPr>
          <a:xfrm>
            <a:off x="5587438" y="33088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/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blipFill>
                <a:blip r:embed="rId6"/>
                <a:stretch>
                  <a:fillRect l="-1907" t="-10000" r="-1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18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F958-EB51-6387-6352-61344458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7E65-2EBB-8213-F62E-2B6184D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FSM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3B9F-BA9F-F3E8-A046-488A79653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States are stored in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Basic storage element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r>
              <a:rPr lang="en-US" sz="2600" dirty="0">
                <a:solidFill>
                  <a:schemeClr val="tx1"/>
                </a:solidFill>
              </a:rPr>
              <a:t>Update and output functions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Implemented in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No storage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Takes input and current state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Produces next state and output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Must finish within one clock cycle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3B231-2DED-E621-2032-D6A2B56E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0DF525-8E98-6468-ADEE-FC1E3636476E}"/>
              </a:ext>
            </a:extLst>
          </p:cNvPr>
          <p:cNvSpPr/>
          <p:nvPr/>
        </p:nvSpPr>
        <p:spPr>
          <a:xfrm>
            <a:off x="6682742" y="27453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/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blipFill>
                <a:blip r:embed="rId2"/>
                <a:stretch>
                  <a:fillRect l="-5096" t="-8197" r="-25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B3BBDE-73B8-4913-9D39-504A90AD2B19}"/>
              </a:ext>
            </a:extLst>
          </p:cNvPr>
          <p:cNvSpPr/>
          <p:nvPr/>
        </p:nvSpPr>
        <p:spPr>
          <a:xfrm>
            <a:off x="8353268" y="2745363"/>
            <a:ext cx="1711971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3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/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blipFill>
                <a:blip r:embed="rId4"/>
                <a:stretch>
                  <a:fillRect l="-491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902F48-3533-719E-AB49-5D4C23E5C94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209254" y="1994357"/>
            <a:ext cx="0" cy="75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B5D4EE-7883-BF7D-1C02-676E365BDE58}"/>
              </a:ext>
            </a:extLst>
          </p:cNvPr>
          <p:cNvCxnSpPr>
            <a:cxnSpLocks/>
          </p:cNvCxnSpPr>
          <p:nvPr/>
        </p:nvCxnSpPr>
        <p:spPr>
          <a:xfrm>
            <a:off x="10053576" y="310159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57B1AE-14E6-9A6D-F9FA-45E1FA3C6F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096000" y="33113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35727C-E1CD-597D-3F2B-0FA56174B2B1}"/>
              </a:ext>
            </a:extLst>
          </p:cNvPr>
          <p:cNvCxnSpPr>
            <a:cxnSpLocks/>
          </p:cNvCxnSpPr>
          <p:nvPr/>
        </p:nvCxnSpPr>
        <p:spPr>
          <a:xfrm>
            <a:off x="10065239" y="359120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ED6C49C-4364-0C38-8FE9-2E59BE0A4BB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389296" y="33113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10BC2BA-8621-24C2-9F74-5A3C00C7DC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1" y="3583484"/>
            <a:ext cx="4809441" cy="1380587"/>
          </a:xfrm>
          <a:prstGeom prst="bentConnector3">
            <a:avLst>
              <a:gd name="adj1" fmla="val -14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0BEDC9-6729-1E88-9BDA-185ED277EF82}"/>
              </a:ext>
            </a:extLst>
          </p:cNvPr>
          <p:cNvCxnSpPr>
            <a:cxnSpLocks/>
          </p:cNvCxnSpPr>
          <p:nvPr/>
        </p:nvCxnSpPr>
        <p:spPr>
          <a:xfrm>
            <a:off x="6096000" y="33113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/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blipFill>
                <a:blip r:embed="rId5"/>
                <a:stretch>
                  <a:fillRect l="-1691" t="-8197" r="-14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FB300C7-0ACC-6063-FB81-756CBB36502C}"/>
              </a:ext>
            </a:extLst>
          </p:cNvPr>
          <p:cNvSpPr txBox="1"/>
          <p:nvPr/>
        </p:nvSpPr>
        <p:spPr>
          <a:xfrm>
            <a:off x="6389371" y="2307269"/>
            <a:ext cx="1123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B4E46-C04D-56BB-A43B-3657D6625A4E}"/>
              </a:ext>
            </a:extLst>
          </p:cNvPr>
          <p:cNvSpPr txBox="1"/>
          <p:nvPr/>
        </p:nvSpPr>
        <p:spPr>
          <a:xfrm>
            <a:off x="7884075" y="3949681"/>
            <a:ext cx="2248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44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92B1-A97D-53AC-17DF-46A912C1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2C3E-B9B7-BDE3-692E-A050AF37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656070" cy="4329817"/>
          </a:xfrm>
        </p:spPr>
        <p:txBody>
          <a:bodyPr/>
          <a:lstStyle/>
          <a:p>
            <a:r>
              <a:rPr lang="en-US" dirty="0"/>
              <a:t>Basic storage element in synchronous logic</a:t>
            </a:r>
          </a:p>
          <a:p>
            <a:r>
              <a:rPr lang="en-US" dirty="0"/>
              <a:t>On each rising edge of </a:t>
            </a:r>
            <a:r>
              <a:rPr lang="en-US" dirty="0" err="1"/>
              <a:t>clk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Assigns </a:t>
            </a:r>
            <a:r>
              <a:rPr lang="en-US" dirty="0" err="1"/>
              <a:t>xreg</a:t>
            </a:r>
            <a:r>
              <a:rPr lang="en-US" dirty="0"/>
              <a:t> to x</a:t>
            </a:r>
          </a:p>
          <a:p>
            <a:r>
              <a:rPr lang="en-US" dirty="0"/>
              <a:t>Value of </a:t>
            </a:r>
            <a:r>
              <a:rPr lang="en-US" dirty="0" err="1"/>
              <a:t>xreg</a:t>
            </a:r>
            <a:r>
              <a:rPr lang="en-US" dirty="0"/>
              <a:t> is maintained even if x changes</a:t>
            </a:r>
          </a:p>
          <a:p>
            <a:r>
              <a:rPr lang="en-US" dirty="0"/>
              <a:t>Example below:  Input is “sampled” at rising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63A6-E642-5955-7C66-AB62FB1F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67D62-9841-DC18-7791-401AD3C4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64" y="642706"/>
            <a:ext cx="3987450" cy="259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F2819-6A50-59BC-4ACA-348D5F77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05" y="3877481"/>
            <a:ext cx="8453589" cy="15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2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F87E-2ABF-333B-C61D-DF6E65F3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FD28-FCFC-8373-7823-1ECDFD37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Register:  Discrete-Time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</p:spPr>
            <p:txBody>
              <a:bodyPr/>
              <a:lstStyle/>
              <a:p>
                <a:r>
                  <a:rPr lang="en-US" dirty="0"/>
                  <a:t>Suppose input has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 clock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register output is: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 simple delay element</a:t>
                </a:r>
              </a:p>
              <a:p>
                <a:r>
                  <a:rPr lang="en-US" dirty="0"/>
                  <a:t>Example: 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=4, 8, 9, 1, 2 </m:t>
                    </m:r>
                  </m:oMath>
                </a14:m>
                <a:r>
                  <a:rPr lang="en-US" dirty="0"/>
                  <a:t> in clock cycles 0 to 4</a:t>
                </a:r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r>
                  <a:rPr lang="en-US" dirty="0"/>
                  <a:t> is initialized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in clock cycle 0</a:t>
                </a:r>
              </a:p>
              <a:p>
                <a:pPr lvl="1"/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0, 4, 8, 9, 1, 2 in clock cycles 0 to 5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  <a:blipFill>
                <a:blip r:embed="rId2"/>
                <a:stretch>
                  <a:fillRect l="-213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1275-5AA5-4FC6-A8FD-0AC211AC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046B2-46A3-9167-A62F-0B082A3AB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073" y="2175821"/>
            <a:ext cx="3987450" cy="25908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/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𝑥𝑟𝑒𝑔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149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BB89-A888-5968-C42D-1067C326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the Counter in System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D577-B34E-B2EC-33DC-416FDCA1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counter is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module definition describes: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Inputs and outputs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Must have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</a:t>
            </a:r>
            <a:r>
              <a:rPr lang="en-US" sz="2000" dirty="0">
                <a:solidFill>
                  <a:schemeClr val="tx1"/>
                </a:solidFill>
              </a:rPr>
              <a:t> input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Typically, also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reset</a:t>
            </a:r>
          </a:p>
          <a:p>
            <a:r>
              <a:rPr lang="en-US" sz="2400" dirty="0">
                <a:solidFill>
                  <a:schemeClr val="tx1"/>
                </a:solidFill>
              </a:rPr>
              <a:t>Does not need the internal state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Unless it happens to be an output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ACC04-D8F7-794E-51DD-04E4B9B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E066D-4B83-D7D2-4222-2DC4DEDC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340" y="1969175"/>
            <a:ext cx="5052185" cy="25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2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0AC7-8075-E644-3962-EA787F20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7019-3B31-64D2-296D-122758AE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86" y="1655632"/>
            <a:ext cx="4402786" cy="12304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block 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always_comb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Takes current state and input</a:t>
            </a:r>
          </a:p>
          <a:p>
            <a:pPr lvl="1"/>
            <a:r>
              <a:rPr lang="en-US" dirty="0"/>
              <a:t>Describes next state and output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CD3F8-BCB5-E405-00BD-BA01EC55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C74475-04D0-6A56-1777-7D4344BF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23" y="2886047"/>
            <a:ext cx="4032699" cy="2672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7599B0-AFA5-9CCF-ADF6-4A23394B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549" y="3182331"/>
            <a:ext cx="4606737" cy="212863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1B90E1-3FCC-62E1-38CD-FC07522D1181}"/>
              </a:ext>
            </a:extLst>
          </p:cNvPr>
          <p:cNvSpPr txBox="1">
            <a:spLocks/>
          </p:cNvSpPr>
          <p:nvPr/>
        </p:nvSpPr>
        <p:spPr>
          <a:xfrm>
            <a:off x="6126480" y="1655632"/>
            <a:ext cx="4402786" cy="12304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always_ff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Registers values for next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85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8406-350F-7DEC-9EB7-59A83496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8621-F42C-18D7-4484-F7BE502A8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739455" cy="4329817"/>
          </a:xfrm>
        </p:spPr>
        <p:txBody>
          <a:bodyPr/>
          <a:lstStyle/>
          <a:p>
            <a:r>
              <a:rPr lang="en-US" dirty="0"/>
              <a:t>We now have the FSM description</a:t>
            </a:r>
          </a:p>
          <a:p>
            <a:r>
              <a:rPr lang="en-US" dirty="0"/>
              <a:t>Three parts</a:t>
            </a:r>
          </a:p>
          <a:p>
            <a:r>
              <a:rPr lang="en-US" dirty="0"/>
              <a:t>Module declaration</a:t>
            </a:r>
          </a:p>
          <a:p>
            <a:pPr lvl="1"/>
            <a:r>
              <a:rPr lang="en-US" dirty="0"/>
              <a:t>Inputs, outputs</a:t>
            </a:r>
          </a:p>
          <a:p>
            <a:r>
              <a:rPr lang="en-US" dirty="0" err="1"/>
              <a:t>Always_comb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Describes next state</a:t>
            </a:r>
          </a:p>
          <a:p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Updates state from </a:t>
            </a:r>
            <a:r>
              <a:rPr lang="en-US" dirty="0" err="1"/>
              <a:t>next_state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E08C-8708-6F58-F8E9-0B8520DA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47754-D078-7FAA-C019-9C781DBF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08" y="462895"/>
            <a:ext cx="3659304" cy="54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11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1E13-6B4D-B0A8-4647-46D15C8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D185-9765-976F-DCEE-F62C2253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vs. Non-Blocking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5BA04-1DA6-C725-C279-A5312EA3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14F5A-34CB-016A-CE71-AFDFF825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77678" cy="432981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Blocking assignment</a:t>
            </a:r>
          </a:p>
          <a:p>
            <a:pPr lvl="1"/>
            <a:r>
              <a:rPr lang="en-US" dirty="0"/>
              <a:t>Use = in SV</a:t>
            </a:r>
          </a:p>
          <a:p>
            <a:pPr lvl="1"/>
            <a:r>
              <a:rPr lang="en-US" dirty="0"/>
              <a:t>Performed sequentially</a:t>
            </a:r>
          </a:p>
          <a:p>
            <a:pPr lvl="1"/>
            <a:r>
              <a:rPr lang="en-US" dirty="0"/>
              <a:t>Assigns temporary (i.e., non-state variables)</a:t>
            </a:r>
          </a:p>
          <a:p>
            <a:pPr lvl="1"/>
            <a:r>
              <a:rPr lang="en-US" dirty="0"/>
              <a:t>Used in </a:t>
            </a:r>
            <a:r>
              <a:rPr lang="en-US" dirty="0" err="1"/>
              <a:t>always_comb</a:t>
            </a:r>
            <a:r>
              <a:rPr lang="en-US" dirty="0"/>
              <a:t> or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Non-blocking assignment</a:t>
            </a:r>
          </a:p>
          <a:p>
            <a:pPr lvl="1"/>
            <a:r>
              <a:rPr lang="en-US" dirty="0"/>
              <a:t>Use &lt;= in SV</a:t>
            </a:r>
          </a:p>
          <a:p>
            <a:pPr lvl="1"/>
            <a:r>
              <a:rPr lang="en-US" dirty="0"/>
              <a:t>Assigns registers / states</a:t>
            </a:r>
          </a:p>
          <a:p>
            <a:pPr lvl="1"/>
            <a:r>
              <a:rPr lang="en-US" dirty="0"/>
              <a:t>Only in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Always update in parallel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D0572-E97C-C3D7-870B-A8D58192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792" y="1036315"/>
            <a:ext cx="4032699" cy="2672836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AE97DDEF-9EC2-F980-B8F4-FB64F7C224B5}"/>
              </a:ext>
            </a:extLst>
          </p:cNvPr>
          <p:cNvSpPr/>
          <p:nvPr/>
        </p:nvSpPr>
        <p:spPr>
          <a:xfrm>
            <a:off x="7667625" y="1614488"/>
            <a:ext cx="485775" cy="1895475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038DA-03E2-ED63-A568-CEB79A0B5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00" y="4204461"/>
            <a:ext cx="3499961" cy="1617224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B456BFDD-131B-FB40-CB0C-A8D877B822DF}"/>
              </a:ext>
            </a:extLst>
          </p:cNvPr>
          <p:cNvSpPr/>
          <p:nvPr/>
        </p:nvSpPr>
        <p:spPr>
          <a:xfrm>
            <a:off x="7256341" y="4132482"/>
            <a:ext cx="485775" cy="168920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68A0A2-F74A-CFB2-5724-67E5E770DBAA}"/>
              </a:ext>
            </a:extLst>
          </p:cNvPr>
          <p:cNvCxnSpPr/>
          <p:nvPr/>
        </p:nvCxnSpPr>
        <p:spPr>
          <a:xfrm>
            <a:off x="5946126" y="2520915"/>
            <a:ext cx="1409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6890D-3556-D2F6-7428-13B792D8C435}"/>
              </a:ext>
            </a:extLst>
          </p:cNvPr>
          <p:cNvCxnSpPr>
            <a:cxnSpLocks/>
          </p:cNvCxnSpPr>
          <p:nvPr/>
        </p:nvCxnSpPr>
        <p:spPr>
          <a:xfrm>
            <a:off x="5117609" y="4036495"/>
            <a:ext cx="1909631" cy="90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56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B622-8459-73A6-D7D3-898654E6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964E3-DF48-E4ED-5889-F58D3712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E4A70-60F6-8312-FA54-9FB17058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98" y="1623529"/>
            <a:ext cx="10791092" cy="305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57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20DF-683B-5312-3E4C-A86C7CA5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Answer on LLM Auto-Grader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F6F6-7AD7-EAF8-3394-3741A1BD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11" y="1502063"/>
            <a:ext cx="10058400" cy="4329817"/>
          </a:xfrm>
        </p:spPr>
        <p:txBody>
          <a:bodyPr/>
          <a:lstStyle/>
          <a:p>
            <a:r>
              <a:rPr lang="en-US" dirty="0"/>
              <a:t>Use AI to get instant feedback</a:t>
            </a:r>
          </a:p>
          <a:p>
            <a:r>
              <a:rPr lang="en-US" dirty="0"/>
              <a:t>Enter your answer</a:t>
            </a:r>
          </a:p>
          <a:p>
            <a:r>
              <a:rPr lang="en-US" dirty="0"/>
              <a:t>Hit Grade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44B47-9A22-2A03-C4D1-03FACD4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F3A83-5F5E-262A-F620-05302C19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54" y="1557075"/>
            <a:ext cx="5734345" cy="4219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A41AE-CC15-59EF-575D-545EB09AD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57" y="3184450"/>
            <a:ext cx="4265444" cy="234211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86A875E-B928-22E7-2C87-066449E3BDEC}"/>
              </a:ext>
            </a:extLst>
          </p:cNvPr>
          <p:cNvSpPr/>
          <p:nvPr/>
        </p:nvSpPr>
        <p:spPr>
          <a:xfrm>
            <a:off x="557223" y="5023769"/>
            <a:ext cx="770972" cy="6780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44AE96-40E3-7A2D-A299-64EB92A4DD58}"/>
              </a:ext>
            </a:extLst>
          </p:cNvPr>
          <p:cNvCxnSpPr/>
          <p:nvPr/>
        </p:nvCxnSpPr>
        <p:spPr>
          <a:xfrm flipH="1">
            <a:off x="959867" y="2808875"/>
            <a:ext cx="560765" cy="21723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463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2AD9-58EC-D633-ABD0-BE2F006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FSM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FSM model </a:t>
                </a:r>
              </a:p>
              <a:p>
                <a:r>
                  <a:rPr lang="en-US" dirty="0"/>
                  <a:t>Remember:  Updates in </a:t>
                </a:r>
                <a:r>
                  <a:rPr lang="en-US" dirty="0" err="1"/>
                  <a:t>always_ff</a:t>
                </a:r>
                <a:r>
                  <a:rPr lang="en-US" dirty="0"/>
                  <a:t> are in parallel</a:t>
                </a:r>
              </a:p>
              <a:p>
                <a:pPr lvl="1"/>
                <a:r>
                  <a:rPr lang="en-US" dirty="0"/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US" dirty="0"/>
                  <a:t> is based 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current</a:t>
                </a:r>
                <a:r>
                  <a:rPr lang="en-US" dirty="0"/>
                  <a:t> cycle value, not next cycle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CF-9B5E-8820-4108-99BF00C1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9356B-0E7C-1022-C774-0F232DA2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62" y="4184882"/>
            <a:ext cx="3379886" cy="17934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/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Equivalent FSM model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if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blipFill>
                <a:blip r:embed="rId4"/>
                <a:stretch>
                  <a:fillRect l="-2200" t="-1802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8271BA4-DF4C-FD64-ED15-D6D172A74570}"/>
              </a:ext>
            </a:extLst>
          </p:cNvPr>
          <p:cNvSpPr/>
          <p:nvPr/>
        </p:nvSpPr>
        <p:spPr>
          <a:xfrm>
            <a:off x="5329238" y="4596954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87" t="-1639" r="-2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87" t="-1639" r="-1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87" t="-1639" r="-3150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578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565A-F284-339C-A097-338BFD95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993B-4FEE-7153-BE45-A3D62404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A701-13E8-8BD6-21FD-404CA959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49D7B-FC89-8151-096C-374CC14AB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9820"/>
            <a:ext cx="8538550" cy="4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5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61FD-254F-52A6-5103-88ACC301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ABA9-9761-1AD5-5D51-300ABA68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62D55-BA0B-736C-C5A0-E0DF027A5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99" y="1620294"/>
            <a:ext cx="4801587" cy="361741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0F2776-6213-DBF6-3EA4-11E59F7E3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0616" y="1539277"/>
            <a:ext cx="4935064" cy="4329817"/>
          </a:xfrm>
        </p:spPr>
        <p:txBody>
          <a:bodyPr/>
          <a:lstStyle/>
          <a:p>
            <a:r>
              <a:rPr lang="en-US" dirty="0"/>
              <a:t>Try answering on the auto-grader</a:t>
            </a:r>
          </a:p>
        </p:txBody>
      </p:sp>
    </p:spTree>
    <p:extLst>
      <p:ext uri="{BB962C8B-B14F-4D97-AF65-F5344CB8AC3E}">
        <p14:creationId xmlns:p14="http://schemas.microsoft.com/office/powerpoint/2010/main" val="2312303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5014-0720-A03A-ABD4-84340E91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2E7B-8AE5-88A3-4E6C-99D41465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C9C3-D1C4-1869-D601-CE9207EB2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4F125-857D-0AE4-3684-0847AE05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BE99EA0-F7F4-BC1D-4860-058260EBA93A}"/>
              </a:ext>
            </a:extLst>
          </p:cNvPr>
          <p:cNvSpPr/>
          <p:nvPr/>
        </p:nvSpPr>
        <p:spPr>
          <a:xfrm>
            <a:off x="371916" y="24968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18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28E3-4921-0C56-A533-398EF8A0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A303-E155-1E49-68C6-DD2D2C81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Version of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Recall early  combinational example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A potential synchronous version could work as follows</a:t>
                </a:r>
              </a:p>
              <a:p>
                <a:r>
                  <a:rPr lang="en-US" dirty="0"/>
                  <a:t>On each clock cycle: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combinationally</a:t>
                </a:r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</a:t>
                </a:r>
              </a:p>
              <a:p>
                <a:pPr lvl="1"/>
                <a:r>
                  <a:rPr lang="en-US" dirty="0"/>
                  <a:t>Output computation has a full clock cycle </a:t>
                </a:r>
              </a:p>
              <a:p>
                <a:pPr lvl="1"/>
                <a:r>
                  <a:rPr lang="en-US" dirty="0"/>
                  <a:t>Output is in a known state by the end of each clock cycle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  <a:blipFill>
                <a:blip r:embed="rId2"/>
                <a:stretch>
                  <a:fillRect l="-2497" t="-1645" r="-1665" b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ABB2A-F886-FABB-1956-DBB03482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13B11-05C0-308B-633A-E9B09FFDF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072" y="3290056"/>
            <a:ext cx="5416919" cy="16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74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328A9B-5945-1698-33C1-CDB4B9C5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714" y="2231841"/>
            <a:ext cx="4467849" cy="2505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C700F-8425-AC74-ED49-156CC12A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4BE5-EE9C-4628-886D-D4D5F263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482" y="1724561"/>
            <a:ext cx="4795805" cy="4004332"/>
          </a:xfrm>
        </p:spPr>
        <p:txBody>
          <a:bodyPr/>
          <a:lstStyle/>
          <a:p>
            <a:r>
              <a:rPr lang="en-US" sz="2400" dirty="0"/>
              <a:t>Making module synchronous is easy</a:t>
            </a:r>
          </a:p>
          <a:p>
            <a:r>
              <a:rPr lang="en-US" sz="2400" dirty="0"/>
              <a:t>First add two inputs to ports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Clock signal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Reset</a:t>
            </a:r>
          </a:p>
          <a:p>
            <a:pPr marL="201168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90D6-424F-828D-4896-0CF21198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6D6C2-1F24-DA7D-CA88-CFE36C37DD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663587" y="2630878"/>
            <a:ext cx="1030725" cy="142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007E4-4D36-BCA1-3B22-50B8E566D05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887068" y="3110702"/>
            <a:ext cx="807244" cy="535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680E97-C491-5A57-BB00-7BF8B22CDD70}"/>
              </a:ext>
            </a:extLst>
          </p:cNvPr>
          <p:cNvSpPr txBox="1"/>
          <p:nvPr/>
        </p:nvSpPr>
        <p:spPr>
          <a:xfrm>
            <a:off x="10694312" y="240004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Clock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BFEFE-EAC6-C656-B88C-F6ECBB697A03}"/>
              </a:ext>
            </a:extLst>
          </p:cNvPr>
          <p:cNvSpPr txBox="1"/>
          <p:nvPr/>
        </p:nvSpPr>
        <p:spPr>
          <a:xfrm>
            <a:off x="10694312" y="2933445"/>
            <a:ext cx="8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Reset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3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D53F-5A03-BB22-E08C-2B6B8D53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EA93-333A-848E-930F-1BAD5555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Synchronous logic has two parts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register outputs</a:t>
            </a:r>
          </a:p>
          <a:p>
            <a:pPr lvl="1"/>
            <a:r>
              <a:rPr lang="en-US" dirty="0"/>
              <a:t>All operations are in parallel (non-blocking)</a:t>
            </a:r>
          </a:p>
          <a:p>
            <a:pPr lvl="1"/>
            <a:r>
              <a:rPr lang="en-US" dirty="0"/>
              <a:t>Our example:  Saves inputs to registers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signals via combinational logic</a:t>
            </a:r>
          </a:p>
          <a:p>
            <a:pPr lvl="1"/>
            <a:r>
              <a:rPr lang="en-US" dirty="0"/>
              <a:t>Operations are sequential (blocking)</a:t>
            </a:r>
          </a:p>
          <a:p>
            <a:pPr lvl="1"/>
            <a:r>
              <a:rPr lang="en-US" dirty="0"/>
              <a:t>Our example:  Computes output from registered inputs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4C9F-CEAE-BE7C-7287-337AF935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9EEFB-C2EC-92D3-9C08-06444C9C9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390-4115-440C-DC17-54227B35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5D85-6A2A-4111-C9C4-6F3B3F53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10058399" cy="4329817"/>
          </a:xfrm>
        </p:spPr>
        <p:txBody>
          <a:bodyPr/>
          <a:lstStyle/>
          <a:p>
            <a:r>
              <a:rPr lang="en-US" dirty="0"/>
              <a:t>Inputs are registered</a:t>
            </a:r>
          </a:p>
          <a:p>
            <a:r>
              <a:rPr lang="en-US" dirty="0"/>
              <a:t>Output is combinational from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C50-644A-8FE6-6FA0-BAD586B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0314-A49F-93B1-1EB5-F2D2D90D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5" y="2967991"/>
            <a:ext cx="10390228" cy="26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25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FD85-1EED-7486-5268-0D614F4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B295-1F25-DDDA-BA1A-0470E6B5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Description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</p:spPr>
            <p:txBody>
              <a:bodyPr/>
              <a:lstStyle/>
              <a:p>
                <a:r>
                  <a:rPr lang="en-US" dirty="0"/>
                  <a:t>States: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Combinational statements: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𝑚𝑢𝑙𝑡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𝑎𝑑𝑑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State 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Putting it together: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Desired output with one cycle delay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  <a:blipFill>
                <a:blip r:embed="rId2"/>
                <a:stretch>
                  <a:fillRect l="-263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ACC7-A60A-FC3E-42A2-1944B210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2E174-6875-6B11-AEE9-1D4C403C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65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621-A59E-9A00-279D-23D4462A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44" y="2557400"/>
            <a:ext cx="6431592" cy="3311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DCF24-DFBA-3C20-2850-3888BD5E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863" y="861947"/>
            <a:ext cx="4002404" cy="48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2E0C-94CD-31C0-996B-ECDE6314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179-5EFE-D1D2-7E18-CC97CDD9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Single Cycle 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</p:spPr>
            <p:txBody>
              <a:bodyPr/>
              <a:lstStyle/>
              <a:p>
                <a:r>
                  <a:rPr lang="en-US" dirty="0"/>
                  <a:t>Problem:   Each clock cycle has a “lot” to do</a:t>
                </a:r>
              </a:p>
              <a:p>
                <a:r>
                  <a:rPr lang="en-US" dirty="0"/>
                  <a:t>Longest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has: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  One addition</a:t>
                </a:r>
              </a:p>
              <a:p>
                <a:pPr lvl="1"/>
                <a:r>
                  <a:rPr lang="en-US" dirty="0"/>
                  <a:t>We will discuss finding longest paths in detail later</a:t>
                </a:r>
              </a:p>
              <a:p>
                <a:r>
                  <a:rPr lang="en-US" dirty="0"/>
                  <a:t>In general, two multiplications in one clock cycle is hard</a:t>
                </a:r>
              </a:p>
              <a:p>
                <a:r>
                  <a:rPr lang="en-US" dirty="0"/>
                  <a:t>Typically, we limit to one multiplication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  <a:blipFill>
                <a:blip r:embed="rId2"/>
                <a:stretch>
                  <a:fillRect l="-2393" t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6020-97C5-A727-CEEC-B3FEDA06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1F946F-A98C-4B2E-46E8-86FE95D5F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277" y="1434204"/>
            <a:ext cx="4527673" cy="2331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4DDB72-7D9C-3F48-9EF4-D7F681D97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189"/>
          <a:stretch>
            <a:fillRect/>
          </a:stretch>
        </p:blipFill>
        <p:spPr>
          <a:xfrm>
            <a:off x="7662863" y="3999939"/>
            <a:ext cx="4002404" cy="16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18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reduce the computation per cycle by breaking operation in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04D9-0AA9-72AC-7B0B-1898F88B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</p:spPr>
            <p:txBody>
              <a:bodyPr/>
              <a:lstStyle/>
              <a:p>
                <a:r>
                  <a:rPr lang="en-US" dirty="0"/>
                  <a:t>Registers: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Substituting in values: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output matches desired equation</a:t>
                </a:r>
              </a:p>
              <a:p>
                <a:pPr lvl="1"/>
                <a:r>
                  <a:rPr lang="en-US" dirty="0"/>
                  <a:t>But at a two cycle delay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  <a:blipFill>
                <a:blip r:embed="rId2"/>
                <a:stretch>
                  <a:fillRect l="-220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E6F9-19F4-0A4A-4FA3-26E074FE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73DEB-F43F-A3A7-9662-5C8345891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022" y="1539277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8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78C2-8EFF-C96D-0111-2BB88A3F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Problem	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</p:spPr>
            <p:txBody>
              <a:bodyPr/>
              <a:lstStyle/>
              <a:p>
                <a:r>
                  <a:rPr lang="en-US" dirty="0"/>
                  <a:t>Hint:</a:t>
                </a:r>
              </a:p>
              <a:p>
                <a:pPr lvl="1"/>
                <a:r>
                  <a:rPr lang="en-US" dirty="0"/>
                  <a:t>Write the computation graph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registers at input and intermediate variables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  <a:blipFill>
                <a:blip r:embed="rId2"/>
                <a:stretch>
                  <a:fillRect l="-1708" t="-3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C1122-680D-A4F3-469D-5547090F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CF646-78CE-53B1-25EE-5BFCE32C5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83" y="1584319"/>
            <a:ext cx="5743870" cy="16479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57DFC5-D065-5F7A-7039-5C9F38AA7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103" y="286603"/>
            <a:ext cx="4536558" cy="288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6696-6B04-F51E-3967-C84C22DA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76E6-03D2-FEDC-3925-CF22CE0A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BDE2-42DF-FD3E-489C-2410320DA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7712E-8466-5B71-D24B-55EA23EC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C89E111-3E92-AC40-6E5B-F61FC9227019}"/>
              </a:ext>
            </a:extLst>
          </p:cNvPr>
          <p:cNvSpPr/>
          <p:nvPr/>
        </p:nvSpPr>
        <p:spPr>
          <a:xfrm>
            <a:off x="351708" y="3012105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10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53F2-D206-B1F2-D919-8C207914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B100-E1E6-FAC4-C1F0-44FCF782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Hardware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264F9-E6AE-9E97-11BD-FA2A3299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E97DC3-64A2-A6FB-92C8-CC34F2207C1F}"/>
              </a:ext>
            </a:extLst>
          </p:cNvPr>
          <p:cNvSpPr/>
          <p:nvPr/>
        </p:nvSpPr>
        <p:spPr>
          <a:xfrm>
            <a:off x="978360" y="1787857"/>
            <a:ext cx="1619589" cy="7418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FCC16A-4098-FB3D-8803-021DD2C14602}"/>
              </a:ext>
            </a:extLst>
          </p:cNvPr>
          <p:cNvSpPr/>
          <p:nvPr/>
        </p:nvSpPr>
        <p:spPr>
          <a:xfrm>
            <a:off x="978361" y="2711459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simulation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6328E4-0381-476E-16AE-3E538864987C}"/>
              </a:ext>
            </a:extLst>
          </p:cNvPr>
          <p:cNvSpPr/>
          <p:nvPr/>
        </p:nvSpPr>
        <p:spPr>
          <a:xfrm>
            <a:off x="978361" y="3730439"/>
            <a:ext cx="1619588" cy="8372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9B63CF-0228-D0F7-4DB6-0F7B8D83457F}"/>
              </a:ext>
            </a:extLst>
          </p:cNvPr>
          <p:cNvSpPr/>
          <p:nvPr/>
        </p:nvSpPr>
        <p:spPr>
          <a:xfrm>
            <a:off x="978361" y="4749419"/>
            <a:ext cx="1619588" cy="837271"/>
          </a:xfrm>
          <a:prstGeom prst="roundRect">
            <a:avLst/>
          </a:prstGeom>
          <a:solidFill>
            <a:srgbClr val="F7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DF47FD9-2680-8F5A-76BF-889A3D3A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125" y="1655632"/>
            <a:ext cx="6036476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Design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Write a behavioral description (e.g., in SV)</a:t>
            </a:r>
          </a:p>
          <a:p>
            <a:pPr lvl="1"/>
            <a:r>
              <a:rPr lang="en-US" sz="2000" dirty="0"/>
              <a:t>What should the module should do exactly?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Functional simulation</a:t>
            </a:r>
          </a:p>
          <a:p>
            <a:pPr lvl="1"/>
            <a:r>
              <a:rPr lang="en-US" sz="2000" dirty="0"/>
              <a:t>Validate module does what it is supposed to do?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r>
              <a:rPr lang="en-US" dirty="0">
                <a:solidFill>
                  <a:srgbClr val="0070C0"/>
                </a:solidFill>
              </a:rPr>
              <a:t>Synthesis</a:t>
            </a:r>
          </a:p>
          <a:p>
            <a:pPr lvl="1"/>
            <a:r>
              <a:rPr lang="en-US" sz="2000" dirty="0"/>
              <a:t>Map the description into real hardware </a:t>
            </a:r>
          </a:p>
          <a:p>
            <a:pPr lvl="1"/>
            <a:r>
              <a:rPr lang="en-US" sz="2000" dirty="0"/>
              <a:t>Gates, FPGA components, …</a:t>
            </a:r>
          </a:p>
          <a:p>
            <a:r>
              <a:rPr lang="en-US" sz="2200" dirty="0">
                <a:solidFill>
                  <a:srgbClr val="0070C0"/>
                </a:solidFill>
              </a:rPr>
              <a:t>Next steps</a:t>
            </a:r>
          </a:p>
          <a:p>
            <a:pPr lvl="1"/>
            <a:r>
              <a:rPr lang="en-US" sz="2000" dirty="0"/>
              <a:t>Place route, timing analysis, bitstreams, …</a:t>
            </a:r>
          </a:p>
          <a:p>
            <a:pPr lvl="1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871D861-4435-923B-3B0F-F1A44788CFBE}"/>
              </a:ext>
            </a:extLst>
          </p:cNvPr>
          <p:cNvSpPr/>
          <p:nvPr/>
        </p:nvSpPr>
        <p:spPr>
          <a:xfrm>
            <a:off x="304800" y="2412999"/>
            <a:ext cx="484632" cy="2336419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DF126CF-261C-CC58-02DB-80A6D6B6E8D0}"/>
              </a:ext>
            </a:extLst>
          </p:cNvPr>
          <p:cNvSpPr/>
          <p:nvPr/>
        </p:nvSpPr>
        <p:spPr>
          <a:xfrm>
            <a:off x="9009381" y="1821824"/>
            <a:ext cx="528319" cy="20146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8DEFD2CC-FB78-9617-3757-082B29EDC83B}"/>
              </a:ext>
            </a:extLst>
          </p:cNvPr>
          <p:cNvSpPr/>
          <p:nvPr/>
        </p:nvSpPr>
        <p:spPr>
          <a:xfrm>
            <a:off x="9009381" y="4002695"/>
            <a:ext cx="528319" cy="1881269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D35BD1-2B17-4759-4D23-6D1363C05567}"/>
              </a:ext>
            </a:extLst>
          </p:cNvPr>
          <p:cNvSpPr txBox="1"/>
          <p:nvPr/>
        </p:nvSpPr>
        <p:spPr>
          <a:xfrm>
            <a:off x="9906000" y="262393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unit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1B4A95-D8CB-4960-D99B-4E19A2E19AEF}"/>
              </a:ext>
            </a:extLst>
          </p:cNvPr>
          <p:cNvSpPr txBox="1"/>
          <p:nvPr/>
        </p:nvSpPr>
        <p:spPr>
          <a:xfrm>
            <a:off x="9905999" y="4749418"/>
            <a:ext cx="135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Later units…</a:t>
            </a:r>
          </a:p>
        </p:txBody>
      </p:sp>
    </p:spTree>
    <p:extLst>
      <p:ext uri="{BB962C8B-B14F-4D97-AF65-F5344CB8AC3E}">
        <p14:creationId xmlns:p14="http://schemas.microsoft.com/office/powerpoint/2010/main" val="2072640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C20BA-6938-119D-6C5A-3CD437F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D947-B1FC-9ABC-3ABA-018EF324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Linear+ReLU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DD1F-C57C-7A74-E8AB-D277DE9D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771257" cy="4329817"/>
          </a:xfrm>
        </p:spPr>
        <p:txBody>
          <a:bodyPr/>
          <a:lstStyle/>
          <a:p>
            <a:r>
              <a:rPr lang="en-US" dirty="0"/>
              <a:t>All files in </a:t>
            </a:r>
            <a:r>
              <a:rPr lang="en-US" dirty="0" err="1"/>
              <a:t>github</a:t>
            </a:r>
            <a:r>
              <a:rPr lang="en-US" dirty="0"/>
              <a:t> repo:</a:t>
            </a:r>
            <a:br>
              <a:rPr lang="en-US" dirty="0"/>
            </a:br>
            <a:r>
              <a:rPr lang="en-US" dirty="0" err="1"/>
              <a:t>hwdesign</a:t>
            </a:r>
            <a:r>
              <a:rPr lang="en-US" dirty="0"/>
              <a:t>/demos/</a:t>
            </a:r>
            <a:r>
              <a:rPr lang="en-US" dirty="0" err="1"/>
              <a:t>fsm</a:t>
            </a:r>
            <a:endParaRPr lang="en-US" dirty="0"/>
          </a:p>
          <a:p>
            <a:r>
              <a:rPr lang="en-US" dirty="0"/>
              <a:t>Define counter in file counter.sv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C9F7E-5C49-5A50-FCA1-C7A04E32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0E79B-8F41-D6DA-3205-C0BA3B82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65" y="2881265"/>
            <a:ext cx="5198041" cy="288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F681B-D1B7-F1F9-ECFC-BB34DC5C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75" y="376123"/>
            <a:ext cx="4232045" cy="55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6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9586-8909-ECB6-44BA-EAB0FC07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 Build a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D4EF-66DF-9E98-D84B-EE36AF21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488926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</a:p>
          <a:p>
            <a:pPr lvl="1"/>
            <a:r>
              <a:rPr lang="en-US" sz="2200" dirty="0"/>
              <a:t>A second SV module</a:t>
            </a:r>
          </a:p>
          <a:p>
            <a:pPr lvl="1"/>
            <a:r>
              <a:rPr lang="en-US" sz="2200" dirty="0"/>
              <a:t>Connects to device under test</a:t>
            </a:r>
            <a:br>
              <a:rPr lang="en-US" sz="2200" dirty="0"/>
            </a:br>
            <a:r>
              <a:rPr lang="en-US" sz="2200" dirty="0"/>
              <a:t>(</a:t>
            </a:r>
            <a:r>
              <a:rPr lang="en-US" sz="2200" dirty="0" err="1"/>
              <a:t>i.e</a:t>
            </a:r>
            <a:r>
              <a:rPr lang="en-US" sz="2200" dirty="0"/>
              <a:t>, module we want to test)</a:t>
            </a:r>
          </a:p>
          <a:p>
            <a:pPr lvl="1"/>
            <a:r>
              <a:rPr lang="en-US" sz="2200" dirty="0"/>
              <a:t>TB provides DUT inputs</a:t>
            </a:r>
          </a:p>
          <a:p>
            <a:pPr lvl="1"/>
            <a:r>
              <a:rPr lang="en-US" sz="2200" dirty="0"/>
              <a:t>TB verifies DUT outputs are correct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B41F-34CF-71B3-5708-5592220F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83C913-A7EE-B208-8B2A-8AE4ACC7E4EC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5378B-F395-21B3-CD03-D22D795CA320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4D1FB1-EBB5-C569-9F65-23A3DA5F8838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C466E8-0BF9-0D19-5E84-79B0726679DF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3B44F9-261A-B2ED-F21A-418EA24748F6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64217-36FD-BE2D-36E3-5977C33FC5F0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37386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F2FB-2E14-6AAA-2F32-BDEEF633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F65B-5403-3A32-620E-35561CD0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Testbenches are not Synthesized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0D5A-55B5-57A9-6F42-A825259E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1539277"/>
            <a:ext cx="5824159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Testbenches are for simulation only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They will not be synthesized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Can include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un-synthesizable</a:t>
            </a:r>
            <a:r>
              <a:rPr lang="en-US" sz="2400" dirty="0">
                <a:solidFill>
                  <a:schemeClr val="tx1"/>
                </a:solidFill>
              </a:rPr>
              <a:t> constructs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Print statements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File read and write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Complex data structures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Modern trend: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TB in higher level language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E.g.,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7ED3-6EBB-CB25-6D8A-C2F832C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0FBF9A-368A-F5AB-EAFD-478F1EDEF9F2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9082A9-6A00-60F6-6A18-AE4CAB871A56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FB851D-D972-B3AC-0BFD-1280F67F0B37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7C807A-F5CC-22C9-1F7B-A3A8AAFB400E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129DFF-2BA2-3D64-2CD3-C6A14976FC61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96C98-F2FB-A2ED-FE48-9317EC448F16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7406038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B08F-7261-1C9D-1C1F-DA4964FC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89BD-8F90-85BE-A7D8-43886949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13A6F-D239-E6A9-56B6-9D4A65E8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Testbench</a:t>
            </a:r>
            <a:r>
              <a:rPr lang="en-US" dirty="0"/>
              <a:t>: a module to test the module</a:t>
            </a:r>
          </a:p>
          <a:p>
            <a:pPr lvl="1"/>
            <a:r>
              <a:rPr lang="en-US" dirty="0"/>
              <a:t>Will not be synthesized</a:t>
            </a:r>
          </a:p>
          <a:p>
            <a:pPr lvl="1"/>
            <a:r>
              <a:rPr lang="en-US" dirty="0"/>
              <a:t>Can have un-synthesizable constructs</a:t>
            </a:r>
          </a:p>
          <a:p>
            <a:pPr lvl="1"/>
            <a:r>
              <a:rPr lang="en-US" dirty="0"/>
              <a:t>Ex: Read / write from file</a:t>
            </a:r>
          </a:p>
          <a:p>
            <a:endParaRPr lang="en-US" dirty="0"/>
          </a:p>
          <a:p>
            <a:r>
              <a:rPr lang="en-US" dirty="0"/>
              <a:t>Create a clock</a:t>
            </a:r>
          </a:p>
          <a:p>
            <a:endParaRPr lang="en-US" dirty="0"/>
          </a:p>
          <a:p>
            <a:r>
              <a:rPr lang="en-US" dirty="0"/>
              <a:t>Instantiate an instance of module to test</a:t>
            </a:r>
          </a:p>
          <a:p>
            <a:pPr lvl="1"/>
            <a:r>
              <a:rPr lang="en-US" dirty="0"/>
              <a:t>Called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DUT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device under test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Connect DUT to testbench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069E-778C-47B5-25E1-B32A1CC0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4A1B-225B-4154-6B27-4491D52A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324" y="3066886"/>
            <a:ext cx="3602314" cy="3052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3708C-C900-4921-D75F-C6C8BC6E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83" y="515575"/>
            <a:ext cx="3131223" cy="22677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88EB95-EB80-0D3F-E0CE-53ECB54A1EA2}"/>
              </a:ext>
            </a:extLst>
          </p:cNvPr>
          <p:cNvCxnSpPr/>
          <p:nvPr/>
        </p:nvCxnSpPr>
        <p:spPr>
          <a:xfrm>
            <a:off x="5429250" y="1876425"/>
            <a:ext cx="129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B6E42-5885-CD78-0381-71857BA73B03}"/>
              </a:ext>
            </a:extLst>
          </p:cNvPr>
          <p:cNvCxnSpPr>
            <a:cxnSpLocks/>
          </p:cNvCxnSpPr>
          <p:nvPr/>
        </p:nvCxnSpPr>
        <p:spPr>
          <a:xfrm flipV="1">
            <a:off x="2738438" y="3471863"/>
            <a:ext cx="4038600" cy="12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384257-470F-CA45-8BC1-A963CD9E8A7C}"/>
              </a:ext>
            </a:extLst>
          </p:cNvPr>
          <p:cNvCxnSpPr>
            <a:cxnSpLocks/>
          </p:cNvCxnSpPr>
          <p:nvPr/>
        </p:nvCxnSpPr>
        <p:spPr>
          <a:xfrm flipV="1">
            <a:off x="5359677" y="4619625"/>
            <a:ext cx="1183999" cy="104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779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40FE-E115-4CD6-C427-D44491FD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C873-C628-5DF7-FD56-CB826D2D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set of test inputs</a:t>
            </a:r>
          </a:p>
          <a:p>
            <a:endParaRPr lang="en-US" dirty="0"/>
          </a:p>
          <a:p>
            <a:r>
              <a:rPr lang="en-US" dirty="0"/>
              <a:t>Loop through inputs</a:t>
            </a:r>
          </a:p>
          <a:p>
            <a:r>
              <a:rPr lang="en-US" dirty="0"/>
              <a:t>Put one new input each clock cycle</a:t>
            </a:r>
          </a:p>
          <a:p>
            <a:r>
              <a:rPr lang="en-US" dirty="0"/>
              <a:t>Testbench uses an initial construct</a:t>
            </a:r>
          </a:p>
          <a:p>
            <a:pPr lvl="1"/>
            <a:r>
              <a:rPr lang="en-US" dirty="0"/>
              <a:t>Enables sequential set of events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AE09C-305C-D94C-85CE-1B3305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3CBDD-DD10-0D68-AAA4-429819C4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89" y="611546"/>
            <a:ext cx="3962530" cy="16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5CD8D-4092-30BD-C2FF-E84C900D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0" y="2407215"/>
            <a:ext cx="4467455" cy="42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47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7C8C-2E9A-3C4E-3077-A8A67C40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2209-4B04-2D99-F3D1-5177C5C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3FCF-5AE3-B748-5852-EB0E74F3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4920" cy="4329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 Runs once at time 0 of the simulation </a:t>
            </a:r>
          </a:p>
          <a:p>
            <a:pPr lvl="1"/>
            <a:r>
              <a:rPr lang="en-US" dirty="0"/>
              <a:t>(or at its scheduled start time if delayed).</a:t>
            </a:r>
          </a:p>
          <a:p>
            <a:r>
              <a:rPr lang="en-US" dirty="0"/>
              <a:t>Statements inside run sequentially</a:t>
            </a:r>
          </a:p>
          <a:p>
            <a:pPr lvl="1"/>
            <a:r>
              <a:rPr lang="en-US" dirty="0"/>
              <a:t>like a small program.</a:t>
            </a:r>
          </a:p>
          <a:p>
            <a:r>
              <a:rPr lang="en-US" dirty="0"/>
              <a:t> Not synthesizable for hardware</a:t>
            </a:r>
          </a:p>
          <a:p>
            <a:pPr lvl="1"/>
            <a:r>
              <a:rPr lang="en-US" dirty="0"/>
              <a:t>Simulation‑only construct.</a:t>
            </a:r>
          </a:p>
          <a:p>
            <a:pPr lvl="1"/>
            <a:r>
              <a:rPr lang="en-US" dirty="0"/>
              <a:t>Used for test benches</a:t>
            </a:r>
          </a:p>
          <a:p>
            <a:r>
              <a:rPr lang="en-US" dirty="0"/>
              <a:t>Concurrency:</a:t>
            </a:r>
          </a:p>
          <a:p>
            <a:pPr lvl="1"/>
            <a:r>
              <a:rPr lang="en-US" dirty="0"/>
              <a:t>initial blocks and always blocks.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12715-15BE-B59D-133A-FD528690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B895C-0345-5FF0-9D0C-B9B759DC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89" y="328490"/>
            <a:ext cx="4955640" cy="55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53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C1F-55F6-3760-8555-3B9C9869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2057-3F08-B56C-4E49-989F3110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76E108-6E6E-6F88-664C-7F688C757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results outputs</a:t>
            </a:r>
          </a:p>
          <a:p>
            <a:r>
              <a:rPr lang="en-US" dirty="0"/>
              <a:t>Match expected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257A8C-D5C7-78CB-4063-48906635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92" y="2838435"/>
            <a:ext cx="8560106" cy="149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040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10825</TotalTime>
  <Words>2376</Words>
  <Application>Microsoft Office PowerPoint</Application>
  <PresentationFormat>Widescreen</PresentationFormat>
  <Paragraphs>505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Cambria Math</vt:lpstr>
      <vt:lpstr>Courier New</vt:lpstr>
      <vt:lpstr>Wingdings</vt:lpstr>
      <vt:lpstr>Retrospect</vt:lpstr>
      <vt:lpstr>Unit 1  Basic Digital Logic</vt:lpstr>
      <vt:lpstr>Learning Objectives</vt:lpstr>
      <vt:lpstr>Outline</vt:lpstr>
      <vt:lpstr>Simple Example:  ReLU + Linear</vt:lpstr>
      <vt:lpstr>SystemVerilog Description</vt:lpstr>
      <vt:lpstr>Module Components in SV</vt:lpstr>
      <vt:lpstr>System Verilog vs Verilog</vt:lpstr>
      <vt:lpstr>System Verilog Data Types</vt:lpstr>
      <vt:lpstr>Block Diagram</vt:lpstr>
      <vt:lpstr>Outline</vt:lpstr>
      <vt:lpstr>Limitations of Combinational Logic</vt:lpstr>
      <vt:lpstr>Synchronous (Sequential) Logic</vt:lpstr>
      <vt:lpstr>Clock Signal</vt:lpstr>
      <vt:lpstr>Synchronous Logic Example:  Counter</vt:lpstr>
      <vt:lpstr>Key Components of a Module</vt:lpstr>
      <vt:lpstr>What is a State?</vt:lpstr>
      <vt:lpstr>Synchronous Logic as an FSM</vt:lpstr>
      <vt:lpstr>Building an FSM in Hardware</vt:lpstr>
      <vt:lpstr>Register Physical Model</vt:lpstr>
      <vt:lpstr>Register:  Discrete-Time Model</vt:lpstr>
      <vt:lpstr>Writing the Counter in System Verilog</vt:lpstr>
      <vt:lpstr>Counter Main Body</vt:lpstr>
      <vt:lpstr>Putting it Together</vt:lpstr>
      <vt:lpstr>Blocking vs. Non-Blocking</vt:lpstr>
      <vt:lpstr>Example Problem</vt:lpstr>
      <vt:lpstr>Try Answer on LLM Auto-Grader</vt:lpstr>
      <vt:lpstr>Solution:  FSM Model</vt:lpstr>
      <vt:lpstr>In-Class Exercise</vt:lpstr>
      <vt:lpstr>In-Class Exercise</vt:lpstr>
      <vt:lpstr>Outline</vt:lpstr>
      <vt:lpstr>Synchronous Version of ReLU + Linear</vt:lpstr>
      <vt:lpstr>Synchronous Module Declaration</vt:lpstr>
      <vt:lpstr>System Verilog Main Body</vt:lpstr>
      <vt:lpstr>Synchronous Block Diagram</vt:lpstr>
      <vt:lpstr>FSM Description</vt:lpstr>
      <vt:lpstr>A More Complex Example</vt:lpstr>
      <vt:lpstr>Problems with Single Cycle Implementation</vt:lpstr>
      <vt:lpstr>A Two Cycle Design</vt:lpstr>
      <vt:lpstr>Analysis</vt:lpstr>
      <vt:lpstr>In Class Problem  </vt:lpstr>
      <vt:lpstr>Outline</vt:lpstr>
      <vt:lpstr>Building the Hardware Roadmap</vt:lpstr>
      <vt:lpstr>Linear+ReLU Example</vt:lpstr>
      <vt:lpstr>Next Step:  Build a Testbench</vt:lpstr>
      <vt:lpstr>Testbenches are not Synthesized</vt:lpstr>
      <vt:lpstr>Testbench Declaration</vt:lpstr>
      <vt:lpstr>Test Vectors</vt:lpstr>
      <vt:lpstr>Initial Block</vt:lpstr>
      <vt:lpstr>Test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493</cp:revision>
  <cp:lastPrinted>2018-09-04T19:00:14Z</cp:lastPrinted>
  <dcterms:created xsi:type="dcterms:W3CDTF">2015-03-22T11:15:32Z</dcterms:created>
  <dcterms:modified xsi:type="dcterms:W3CDTF">2026-01-19T03:39:32Z</dcterms:modified>
</cp:coreProperties>
</file>