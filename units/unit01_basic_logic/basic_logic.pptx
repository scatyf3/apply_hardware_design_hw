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8" r:id="rId2"/>
    <p:sldId id="271" r:id="rId3"/>
    <p:sldId id="382" r:id="rId4"/>
    <p:sldId id="278" r:id="rId5"/>
    <p:sldId id="279" r:id="rId6"/>
    <p:sldId id="283" r:id="rId7"/>
    <p:sldId id="284" r:id="rId8"/>
    <p:sldId id="339" r:id="rId9"/>
    <p:sldId id="280" r:id="rId10"/>
    <p:sldId id="336" r:id="rId11"/>
    <p:sldId id="300" r:id="rId12"/>
    <p:sldId id="301" r:id="rId13"/>
    <p:sldId id="302" r:id="rId14"/>
    <p:sldId id="359" r:id="rId15"/>
    <p:sldId id="360" r:id="rId16"/>
    <p:sldId id="362" r:id="rId17"/>
    <p:sldId id="361" r:id="rId18"/>
    <p:sldId id="364" r:id="rId19"/>
    <p:sldId id="306" r:id="rId20"/>
    <p:sldId id="355" r:id="rId21"/>
    <p:sldId id="363" r:id="rId22"/>
    <p:sldId id="356" r:id="rId23"/>
    <p:sldId id="366" r:id="rId24"/>
    <p:sldId id="365" r:id="rId25"/>
    <p:sldId id="352" r:id="rId26"/>
    <p:sldId id="354" r:id="rId27"/>
    <p:sldId id="353" r:id="rId28"/>
    <p:sldId id="367" r:id="rId29"/>
    <p:sldId id="358" r:id="rId30"/>
    <p:sldId id="357" r:id="rId31"/>
    <p:sldId id="368" r:id="rId32"/>
    <p:sldId id="303" r:id="rId33"/>
    <p:sldId id="308" r:id="rId34"/>
    <p:sldId id="309" r:id="rId35"/>
    <p:sldId id="346" r:id="rId36"/>
    <p:sldId id="312" r:id="rId37"/>
    <p:sldId id="348" r:id="rId38"/>
    <p:sldId id="320" r:id="rId39"/>
    <p:sldId id="349" r:id="rId40"/>
    <p:sldId id="351" r:id="rId41"/>
    <p:sldId id="369" r:id="rId42"/>
    <p:sldId id="341" r:id="rId43"/>
    <p:sldId id="377" r:id="rId44"/>
    <p:sldId id="370" r:id="rId45"/>
    <p:sldId id="371" r:id="rId46"/>
    <p:sldId id="330" r:id="rId47"/>
    <p:sldId id="329" r:id="rId48"/>
    <p:sldId id="381" r:id="rId49"/>
    <p:sldId id="331" r:id="rId5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9FD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/>
              <a:t>Unit 1 </a:t>
            </a:r>
            <a:br>
              <a:rPr lang="en-US" sz="6600"/>
            </a:br>
            <a:r>
              <a:rPr lang="en-US" sz="6600"/>
              <a:t>Basic Digital Logic</a:t>
            </a:r>
            <a:endParaRPr lang="en-US" sz="6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simple functions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combinational logic </a:t>
            </a:r>
            <a:r>
              <a:rPr lang="en-US" dirty="0"/>
              <a:t>in </a:t>
            </a:r>
            <a:r>
              <a:rPr lang="en-US" dirty="0" err="1"/>
              <a:t>SystemVerilog</a:t>
            </a:r>
            <a:r>
              <a:rPr lang="en-US" dirty="0"/>
              <a:t> and draw block diagrams</a:t>
            </a:r>
          </a:p>
          <a:p>
            <a:r>
              <a:rPr lang="en-US" dirty="0"/>
              <a:t>Define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finite state machines </a:t>
            </a:r>
            <a:r>
              <a:rPr lang="en-US" dirty="0">
                <a:solidFill>
                  <a:schemeClr val="tx1"/>
                </a:solidFill>
              </a:rPr>
              <a:t>and identify inputs, outputs, and states </a:t>
            </a:r>
          </a:p>
          <a:p>
            <a:r>
              <a:rPr lang="en-US" dirty="0">
                <a:solidFill>
                  <a:schemeClr val="tx1"/>
                </a:solidFill>
              </a:rPr>
              <a:t>Implement FSMs with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synchronous logic </a:t>
            </a:r>
            <a:r>
              <a:rPr lang="en-US" dirty="0"/>
              <a:t>in </a:t>
            </a:r>
            <a:r>
              <a:rPr lang="en-US" dirty="0" err="1"/>
              <a:t>SystemVerilog</a:t>
            </a:r>
            <a:endParaRPr lang="en-US" dirty="0"/>
          </a:p>
          <a:p>
            <a:r>
              <a:rPr lang="en-US" dirty="0"/>
              <a:t>Break and implement functions over multiple clock cycles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/>
              <a:t>Write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testbench</a:t>
            </a:r>
            <a:r>
              <a:rPr lang="en-US" dirty="0"/>
              <a:t> for the hardware modules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Simulate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synthesize</a:t>
            </a:r>
            <a:r>
              <a:rPr lang="en-US" dirty="0"/>
              <a:t> the </a:t>
            </a:r>
            <a:r>
              <a:rPr lang="en-US" dirty="0" err="1"/>
              <a:t>SystemVerilog</a:t>
            </a:r>
            <a:r>
              <a:rPr lang="en-US" dirty="0"/>
              <a:t> using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Vivado</a:t>
            </a:r>
            <a:r>
              <a:rPr lang="en-US" dirty="0"/>
              <a:t> tools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E845C-BCAD-396A-C64F-8770C9AD5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A0C8C-938F-B997-61B3-C4388708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85B0B-0257-7161-0C53-CBBB59E3A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Registers, Clocks and Sequential Logic and Finite State Machines</a:t>
            </a:r>
          </a:p>
          <a:p>
            <a:r>
              <a:rPr lang="en-US" sz="2400" dirty="0"/>
              <a:t>Splitting Long Computations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D50CF-D8E8-1B59-CDF3-218EEE22D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9B352B0-3CBE-B193-3D94-64912B43BC66}"/>
              </a:ext>
            </a:extLst>
          </p:cNvPr>
          <p:cNvSpPr/>
          <p:nvPr/>
        </p:nvSpPr>
        <p:spPr>
          <a:xfrm>
            <a:off x="434276" y="1493710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Goal</a:t>
                </a:r>
                <a:r>
                  <a:rPr lang="en-US" sz="2400" dirty="0"/>
                  <a:t>:  Implement a module for the function</a:t>
                </a:r>
                <a:br>
                  <a:rPr lang="en-US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endParaRPr lang="en-US" sz="2400" dirty="0"/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179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8BE07-C2AC-5C81-2EDC-B0E0254C5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53BA-A695-433E-9E77-354D19D91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 err="1"/>
              <a:t>SystemVerilog</a:t>
            </a:r>
            <a:r>
              <a:rPr lang="en-US" dirty="0"/>
              <a:t>:</a:t>
            </a:r>
          </a:p>
          <a:p>
            <a:pPr lvl="1"/>
            <a:r>
              <a:rPr lang="en-US" sz="2000" dirty="0"/>
              <a:t>Language for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behavioral</a:t>
            </a:r>
            <a:r>
              <a:rPr lang="en-US" sz="2000" dirty="0"/>
              <a:t> description</a:t>
            </a:r>
          </a:p>
          <a:p>
            <a:pPr lvl="1"/>
            <a:r>
              <a:rPr lang="en-US" sz="2000" dirty="0"/>
              <a:t>What the module should do</a:t>
            </a:r>
          </a:p>
          <a:p>
            <a:r>
              <a:rPr lang="en-US" dirty="0"/>
              <a:t>Each block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module</a:t>
            </a:r>
          </a:p>
          <a:p>
            <a:pPr lvl="1"/>
            <a:r>
              <a:rPr lang="en-US" sz="2000" dirty="0"/>
              <a:t>Has inputs and outputs</a:t>
            </a:r>
          </a:p>
          <a:p>
            <a:pPr lvl="1"/>
            <a:r>
              <a:rPr lang="en-US" sz="2000" dirty="0"/>
              <a:t>Logical mapping from inputs to outputs</a:t>
            </a:r>
          </a:p>
          <a:p>
            <a:r>
              <a:rPr lang="en-US" dirty="0"/>
              <a:t>Description is behavioral only</a:t>
            </a:r>
          </a:p>
          <a:p>
            <a:pPr lvl="1"/>
            <a:r>
              <a:rPr lang="en-US" sz="2000" dirty="0"/>
              <a:t>Does not say how it will be implemented</a:t>
            </a:r>
          </a:p>
          <a:p>
            <a:pPr lvl="1"/>
            <a:r>
              <a:rPr lang="en-US" sz="2000" dirty="0"/>
              <a:t>We discuss that later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4595-A4AA-901B-7B0B-A65349D8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482BF0-FDB7-2E1E-B0BF-D180FA52E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326" y="1614292"/>
            <a:ext cx="5810386" cy="378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92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5A406-C087-AB7C-47F9-FED63439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24301ED-9208-D7AA-D795-350EBF390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70" y="1846785"/>
            <a:ext cx="5459585" cy="35547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6C2159-E556-D33C-8A01-715E0748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Components in 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81CA8-D911-EA40-0FF4-939AE9B18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4630" y="1846785"/>
            <a:ext cx="4998720" cy="3626289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Module name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Ports</a:t>
            </a:r>
            <a:r>
              <a:rPr lang="en-US" sz="2400" dirty="0"/>
              <a:t>:</a:t>
            </a:r>
          </a:p>
          <a:p>
            <a:pPr lvl="1"/>
            <a:r>
              <a:rPr lang="en-US" sz="2000" dirty="0"/>
              <a:t>Defines inputs and outputs</a:t>
            </a:r>
          </a:p>
          <a:p>
            <a:pPr lvl="1"/>
            <a:r>
              <a:rPr lang="en-US" sz="2000" dirty="0"/>
              <a:t>Each has a type (more detail later)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chemeClr val="accent1"/>
                </a:solidFill>
              </a:rPr>
              <a:t>Behavioral description</a:t>
            </a:r>
          </a:p>
          <a:p>
            <a:pPr lvl="1"/>
            <a:r>
              <a:rPr lang="en-US" sz="2000" dirty="0"/>
              <a:t>In this case, a </a:t>
            </a:r>
            <a:r>
              <a:rPr lang="en-US" sz="2000" dirty="0">
                <a:solidFill>
                  <a:schemeClr val="accent1"/>
                </a:solidFill>
              </a:rPr>
              <a:t>combinational block</a:t>
            </a:r>
          </a:p>
          <a:p>
            <a:pPr lvl="1"/>
            <a:r>
              <a:rPr lang="en-US" sz="2000" dirty="0"/>
              <a:t>Sequence of operations </a:t>
            </a:r>
          </a:p>
          <a:p>
            <a:pPr lvl="1"/>
            <a:r>
              <a:rPr lang="en-US" sz="2000" dirty="0"/>
              <a:t>From input to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95E58-6885-B715-15DD-C341EFBA1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368288-6B4D-8BAE-83B3-B324FD6066C3}"/>
              </a:ext>
            </a:extLst>
          </p:cNvPr>
          <p:cNvCxnSpPr>
            <a:cxnSpLocks/>
          </p:cNvCxnSpPr>
          <p:nvPr/>
        </p:nvCxnSpPr>
        <p:spPr>
          <a:xfrm flipH="1">
            <a:off x="4519613" y="2709863"/>
            <a:ext cx="177509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94FEB2-86CF-D95C-922C-7DB2B6F95159}"/>
              </a:ext>
            </a:extLst>
          </p:cNvPr>
          <p:cNvCxnSpPr>
            <a:cxnSpLocks/>
          </p:cNvCxnSpPr>
          <p:nvPr/>
        </p:nvCxnSpPr>
        <p:spPr>
          <a:xfrm flipH="1">
            <a:off x="5627371" y="4443413"/>
            <a:ext cx="78127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63C4718-A8C2-673E-C4C5-A5E50B89D2D9}"/>
              </a:ext>
            </a:extLst>
          </p:cNvPr>
          <p:cNvCxnSpPr>
            <a:cxnSpLocks/>
          </p:cNvCxnSpPr>
          <p:nvPr/>
        </p:nvCxnSpPr>
        <p:spPr>
          <a:xfrm flipH="1">
            <a:off x="3443288" y="2000552"/>
            <a:ext cx="3048447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9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6F688-1E1C-DE63-651F-86BBFB211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vs Verilog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5FDDC-091C-3DB4-2329-A530676D9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Verilog</a:t>
            </a:r>
          </a:p>
          <a:p>
            <a:pPr lvl="1"/>
            <a:r>
              <a:rPr lang="en-US" sz="2200" dirty="0"/>
              <a:t>Created in 1983-84</a:t>
            </a:r>
          </a:p>
          <a:p>
            <a:pPr lvl="1"/>
            <a:r>
              <a:rPr lang="en-US" sz="2200" dirty="0"/>
              <a:t>Standardized in 1995.  Became mainstream RTL</a:t>
            </a:r>
          </a:p>
          <a:p>
            <a:pPr lvl="1"/>
            <a:r>
              <a:rPr lang="en-US" sz="2200" dirty="0"/>
              <a:t>Largely used for legacy designs</a:t>
            </a:r>
          </a:p>
          <a:p>
            <a:pPr lvl="1"/>
            <a:endParaRPr lang="en-US" sz="2200" dirty="0"/>
          </a:p>
          <a:p>
            <a:r>
              <a:rPr lang="en-US" sz="2400" dirty="0">
                <a:solidFill>
                  <a:schemeClr val="accent1"/>
                </a:solidFill>
              </a:rPr>
              <a:t>System Verilog (this unit)</a:t>
            </a:r>
          </a:p>
          <a:p>
            <a:pPr lvl="1"/>
            <a:r>
              <a:rPr lang="en-US" sz="2200" dirty="0"/>
              <a:t>Developed in 2002</a:t>
            </a:r>
          </a:p>
          <a:p>
            <a:pPr lvl="1"/>
            <a:r>
              <a:rPr lang="en-US" sz="2200" dirty="0"/>
              <a:t>Extends Verilog</a:t>
            </a:r>
          </a:p>
          <a:p>
            <a:pPr lvl="1"/>
            <a:r>
              <a:rPr lang="en-US" sz="2200" dirty="0"/>
              <a:t>Better abstraction, parameterization</a:t>
            </a:r>
          </a:p>
          <a:p>
            <a:pPr lvl="1"/>
            <a:r>
              <a:rPr lang="en-US" sz="2200" dirty="0"/>
              <a:t>Significantly improved testbench</a:t>
            </a:r>
          </a:p>
          <a:p>
            <a:pPr lvl="1"/>
            <a:r>
              <a:rPr lang="en-US" sz="2200" dirty="0"/>
              <a:t>Overwhelming design choice today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3BFB3-6F6A-C9D6-82A5-AE6CA8DB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4098" name="Picture 2" descr="Guide to Verilog — Beginner Guide | by ...">
            <a:extLst>
              <a:ext uri="{FF2B5EF4-FFF2-40B4-BE49-F238E27FC236}">
                <a16:creationId xmlns:a16="http://schemas.microsoft.com/office/drawing/2014/main" id="{ADD75851-13C6-B643-8109-363844771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2010056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n open source SystemVerilog Test Suite">
            <a:extLst>
              <a:ext uri="{FF2B5EF4-FFF2-40B4-BE49-F238E27FC236}">
                <a16:creationId xmlns:a16="http://schemas.microsoft.com/office/drawing/2014/main" id="{801DBC8A-FE69-D5CD-7DDD-73B2C46A7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0980" y="3603644"/>
            <a:ext cx="3395329" cy="1785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900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23AC3-C705-F782-67B5-B0A4B84AA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23923-5E7C-A69A-B682-3FEF8E791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088" y="3023840"/>
            <a:ext cx="9863592" cy="284525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Most of the modules we will write use the above three data types</a:t>
            </a:r>
          </a:p>
          <a:p>
            <a:r>
              <a:rPr lang="en-US" dirty="0"/>
              <a:t>Specifies:</a:t>
            </a:r>
          </a:p>
          <a:p>
            <a:pPr lvl="1"/>
            <a:r>
              <a:rPr lang="en-US" dirty="0"/>
              <a:t>Bit width</a:t>
            </a:r>
          </a:p>
          <a:p>
            <a:pPr lvl="1"/>
            <a:r>
              <a:rPr lang="en-US" dirty="0"/>
              <a:t>Signed or unsigned</a:t>
            </a:r>
          </a:p>
          <a:p>
            <a:r>
              <a:rPr lang="en-US" dirty="0"/>
              <a:t>Logic keyword:</a:t>
            </a:r>
          </a:p>
          <a:p>
            <a:pPr lvl="1"/>
            <a:r>
              <a:rPr lang="en-US" dirty="0"/>
              <a:t>Indicates that a bit can 0, 1, X or Z</a:t>
            </a:r>
          </a:p>
          <a:p>
            <a:pPr lvl="1"/>
            <a:r>
              <a:rPr lang="en-US" dirty="0"/>
              <a:t>X = unknown / undefined, Z = high impedance (disconnected) </a:t>
            </a:r>
          </a:p>
          <a:p>
            <a:pPr lvl="1"/>
            <a:r>
              <a:rPr lang="en-US" dirty="0"/>
              <a:t>We will discuss X and Z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16A83-FE31-5AB6-905E-93FCEBB2E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4587B3-8A29-3FFB-1DF2-9C2BAD691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427" y="1642522"/>
            <a:ext cx="6658904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62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784-9A01-55DB-D193-0DE0BF6F0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04E1-70CB-65A5-6FD8-98DF333F2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of a module typically represented by a </a:t>
            </a:r>
            <a:r>
              <a:rPr lang="en-US" dirty="0">
                <a:solidFill>
                  <a:schemeClr val="accent1"/>
                </a:solidFill>
              </a:rPr>
              <a:t>block diagram</a:t>
            </a:r>
          </a:p>
          <a:p>
            <a:r>
              <a:rPr lang="en-US" dirty="0"/>
              <a:t>Graphical representation of a potential implementation</a:t>
            </a:r>
          </a:p>
          <a:p>
            <a:r>
              <a:rPr lang="en-US" dirty="0"/>
              <a:t>Typically, diagram is at high-level</a:t>
            </a:r>
          </a:p>
          <a:p>
            <a:pPr lvl="1"/>
            <a:r>
              <a:rPr lang="en-US" dirty="0"/>
              <a:t>Adders, multipliers not low-level details components like gates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0CB96-3F47-24B5-9142-7743E60A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233B5-D650-2A86-938A-F2909D3DE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083" y="3166235"/>
            <a:ext cx="7724119" cy="23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386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F2F31-3203-5115-2596-EBC50D16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68E12-525A-63AB-0A6F-6D430073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39F26-0689-9C02-1517-96591E92B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Registers, Clocks and Sequential Logic and Finite State Machines</a:t>
            </a:r>
          </a:p>
          <a:p>
            <a:r>
              <a:rPr lang="en-US" sz="2400" dirty="0"/>
              <a:t>Splitting Long Computations</a:t>
            </a:r>
          </a:p>
          <a:p>
            <a:r>
              <a:rPr lang="en-US" sz="2400" dirty="0"/>
              <a:t>Simulating and Synthesizing Simple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422D8-678A-1358-2D01-61E3D624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E4DF5AC-F564-EFD6-6310-8AE29B223504}"/>
              </a:ext>
            </a:extLst>
          </p:cNvPr>
          <p:cNvSpPr/>
          <p:nvPr/>
        </p:nvSpPr>
        <p:spPr>
          <a:xfrm>
            <a:off x="462851" y="194614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250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76CA79D-EBD9-AA57-8A75-5919CEF3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408" y="3828056"/>
            <a:ext cx="6037276" cy="1854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11CEB7-614C-5A0C-3EAF-0455FA160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Combinational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21DD7-A95F-2051-72C0-1B345C98A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memory — cannot store past values</a:t>
            </a:r>
          </a:p>
          <a:p>
            <a:r>
              <a:rPr lang="en-US" dirty="0"/>
              <a:t>Output changes immediately with input changes (no control over timing)</a:t>
            </a:r>
          </a:p>
          <a:p>
            <a:r>
              <a:rPr lang="en-US" dirty="0"/>
              <a:t>Long combinational paths lead to large propagation delays</a:t>
            </a:r>
          </a:p>
          <a:p>
            <a:r>
              <a:rPr lang="en-US" dirty="0"/>
              <a:t>Hard to build large systems without controlled timing boundaries</a:t>
            </a:r>
          </a:p>
          <a:p>
            <a:r>
              <a:rPr lang="en-US" dirty="0"/>
              <a:t>Glitches and hazards can propagate freely</a:t>
            </a:r>
          </a:p>
          <a:p>
            <a:r>
              <a:rPr lang="en-US" dirty="0"/>
              <a:t>No notion of “steps” or “cycles” — everything is continuous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AA4B0-CBC0-DC73-9E26-F3484FB7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146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AD911-3BF4-D32D-0851-6EEAC3705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(Sequential)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8832D-5242-3E39-8CC3-5BE1BCC6A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Introduces </a:t>
            </a:r>
            <a:r>
              <a:rPr lang="en-US" dirty="0">
                <a:solidFill>
                  <a:schemeClr val="accent1"/>
                </a:solidFill>
              </a:rPr>
              <a:t>state</a:t>
            </a:r>
            <a:r>
              <a:rPr lang="en-US" dirty="0"/>
              <a:t> via </a:t>
            </a:r>
            <a:r>
              <a:rPr lang="en-US" dirty="0">
                <a:solidFill>
                  <a:schemeClr val="accent1"/>
                </a:solidFill>
              </a:rPr>
              <a:t>flip‑flops </a:t>
            </a:r>
            <a:r>
              <a:rPr lang="en-US" dirty="0"/>
              <a:t>or </a:t>
            </a:r>
            <a:r>
              <a:rPr lang="en-US" dirty="0">
                <a:solidFill>
                  <a:schemeClr val="accent1"/>
                </a:solidFill>
              </a:rPr>
              <a:t>registers</a:t>
            </a:r>
          </a:p>
          <a:p>
            <a:r>
              <a:rPr lang="en-US" dirty="0"/>
              <a:t>Breaks long logic into </a:t>
            </a:r>
            <a:r>
              <a:rPr lang="en-US" dirty="0">
                <a:solidFill>
                  <a:schemeClr val="accent1"/>
                </a:solidFill>
              </a:rPr>
              <a:t>clocked stages</a:t>
            </a:r>
            <a:r>
              <a:rPr lang="en-US" dirty="0"/>
              <a:t>, improving performance</a:t>
            </a:r>
          </a:p>
          <a:p>
            <a:r>
              <a:rPr lang="en-US" dirty="0"/>
              <a:t>Provides </a:t>
            </a:r>
            <a:r>
              <a:rPr lang="en-US" dirty="0">
                <a:solidFill>
                  <a:schemeClr val="accent1"/>
                </a:solidFill>
              </a:rPr>
              <a:t>predictable timing </a:t>
            </a:r>
            <a:r>
              <a:rPr lang="en-US" dirty="0"/>
              <a:t>— changes only occur on clock edges</a:t>
            </a:r>
          </a:p>
          <a:p>
            <a:r>
              <a:rPr lang="en-US" dirty="0"/>
              <a:t>Makes large systems modular and easier to reason about</a:t>
            </a:r>
          </a:p>
          <a:p>
            <a:r>
              <a:rPr lang="en-US" dirty="0"/>
              <a:t>Eliminates most hazards/glitches from propagating across stages</a:t>
            </a:r>
          </a:p>
          <a:p>
            <a:r>
              <a:rPr lang="en-US" dirty="0"/>
              <a:t>Enables pipelining, finite‑state machines, and sequential algorithms</a:t>
            </a:r>
          </a:p>
          <a:p>
            <a:r>
              <a:rPr lang="en-US" dirty="0"/>
              <a:t>Allows clean interfaces between modules (valid/ready, handshakes, etc.)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420C8-93C4-94D3-F760-A89275C8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26C523-87AC-2853-856A-0E6B98452D41}"/>
              </a:ext>
            </a:extLst>
          </p:cNvPr>
          <p:cNvSpPr/>
          <p:nvPr/>
        </p:nvSpPr>
        <p:spPr>
          <a:xfrm>
            <a:off x="1681162" y="4861523"/>
            <a:ext cx="7705726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Synchronous logic is the dominant paradigm for design </a:t>
            </a:r>
          </a:p>
        </p:txBody>
      </p:sp>
    </p:spTree>
    <p:extLst>
      <p:ext uri="{BB962C8B-B14F-4D97-AF65-F5344CB8AC3E}">
        <p14:creationId xmlns:p14="http://schemas.microsoft.com/office/powerpoint/2010/main" val="910885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2BDCC-D4A7-DD40-30B1-14C265FC7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Clock</a:t>
                </a:r>
                <a:r>
                  <a:rPr lang="en-US" sz="2400" dirty="0"/>
                  <a:t>:  An alternating binary signal</a:t>
                </a:r>
              </a:p>
              <a:p>
                <a:pPr lvl="1"/>
                <a:r>
                  <a:rPr lang="en-US" sz="2000" dirty="0"/>
                  <a:t>Visualized as a square wave</a:t>
                </a:r>
              </a:p>
              <a:p>
                <a:r>
                  <a:rPr lang="en-US" sz="2400" dirty="0"/>
                  <a:t>Each period is called a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clock cycle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Typically, between two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rising edges</a:t>
                </a:r>
              </a:p>
              <a:p>
                <a:r>
                  <a:rPr lang="en-US" sz="2400" dirty="0"/>
                  <a:t>Parameters:</a:t>
                </a:r>
              </a:p>
              <a:p>
                <a:pPr lvl="1"/>
                <a:r>
                  <a:rPr lang="en-US" sz="2000" dirty="0"/>
                  <a:t>Clock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period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Frequency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r>
                  <a:rPr lang="en-US" sz="2400" dirty="0"/>
                  <a:t>Typical parameters:</a:t>
                </a:r>
              </a:p>
              <a:p>
                <a:pPr lvl="1"/>
                <a:r>
                  <a:rPr lang="en-US" sz="2000" dirty="0"/>
                  <a:t>FPGA logic: 100 to 500 MHz</a:t>
                </a:r>
              </a:p>
              <a:p>
                <a:pPr lvl="1"/>
                <a:r>
                  <a:rPr lang="en-US" sz="2000" dirty="0"/>
                  <a:t>ASIC:  500 MHz to 1 GHz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86D5B-ABF1-37F4-8E83-F95D13D67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3B641-E06B-52DB-F256-2E5D90262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61ACB54-5B4E-B9B7-3F31-46A05A565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8855" y="3209925"/>
            <a:ext cx="507682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78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6001B-5CDD-0C08-9994-603839E9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4C8E-D7AE-847E-B2BC-5DECC8A2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Synchronous Logic Example:  Counter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CFB25-27C1-76B5-3950-E386EB4C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37785" y="1655632"/>
                <a:ext cx="8825667" cy="4329817"/>
              </a:xfrm>
            </p:spPr>
            <p:txBody>
              <a:bodyPr/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Synchronous logic</a:t>
                </a:r>
                <a:r>
                  <a:rPr lang="en-US" sz="2400" dirty="0"/>
                  <a:t>:</a:t>
                </a:r>
              </a:p>
              <a:p>
                <a:pPr lvl="1"/>
                <a:r>
                  <a:rPr lang="en-US" sz="2000" dirty="0"/>
                  <a:t>Updates occur on each clock cycle</a:t>
                </a:r>
              </a:p>
              <a:p>
                <a:r>
                  <a:rPr lang="en-US" sz="2400" dirty="0"/>
                  <a:t>Simple example:  A down-counter</a:t>
                </a:r>
                <a:endParaRPr lang="en-US" sz="2400" dirty="0">
                  <a:solidFill>
                    <a:schemeClr val="accent1"/>
                  </a:solidFill>
                </a:endParaRPr>
              </a:p>
              <a:p>
                <a:r>
                  <a:rPr lang="en-US" sz="2400" dirty="0"/>
                  <a:t>Potential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specification</a:t>
                </a:r>
                <a:r>
                  <a:rPr lang="en-US" sz="2400" dirty="0"/>
                  <a:t>:   On clock cycle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:</a:t>
                </a:r>
                <a:br>
                  <a:rPr lang="en-US" sz="2400" dirty="0"/>
                </a:br>
                <a:endParaRPr lang="en-US" sz="2400" dirty="0"/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𝑠𝑡𝑎𝑟𝑡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]=1  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cnt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</m:d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br>
                  <a:rPr lang="en-US" sz="20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𝑐𝑛𝑡</m:t>
                    </m:r>
                    <m:r>
                      <m:rPr>
                        <m:lit/>
                      </m:rPr>
                      <a:rPr lang="en-US" sz="2000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𝑖𝑛𝑖𝑡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</a:t>
                </a:r>
                <a:br>
                  <a:rPr lang="en-US" sz="2000" dirty="0"/>
                </a:br>
                <a:endParaRPr lang="en-US" sz="2000" dirty="0"/>
              </a:p>
              <a:p>
                <a:pPr lvl="1"/>
                <a:r>
                  <a:rPr lang="en-US" sz="2000" dirty="0"/>
                  <a:t>Else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←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{0,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𝑐𝑛𝑡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−1}</m:t>
                        </m:r>
                      </m:e>
                    </m:func>
                  </m:oMath>
                </a14:m>
                <a:endParaRPr lang="en-US" sz="20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CFB25-27C1-76B5-3950-E386EB4C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37785" y="1655632"/>
                <a:ext cx="8825667" cy="4329817"/>
              </a:xfrm>
              <a:blipFill>
                <a:blip r:embed="rId2"/>
                <a:stretch>
                  <a:fillRect l="-1934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779C-2C51-396A-7C04-105794CBE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52C47C9-4DCB-12E0-7162-476B6D2E12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0238700"/>
                  </p:ext>
                </p:extLst>
              </p:nvPr>
            </p:nvGraphicFramePr>
            <p:xfrm>
              <a:off x="7951744" y="1655632"/>
              <a:ext cx="3794000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48500">
                      <a:extLst>
                        <a:ext uri="{9D8B030D-6E8A-4147-A177-3AD203B41FA5}">
                          <a16:colId xmlns:a16="http://schemas.microsoft.com/office/drawing/2014/main" val="4270653478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2539956876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3914664233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42240782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𝑡𝑎𝑟𝑡</m:t>
                              </m:r>
                            </m:oMath>
                          </a14:m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𝑐𝑛𝑡</m:t>
                                </m:r>
                                <m:r>
                                  <m:rPr>
                                    <m:lit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𝑖𝑛𝑖𝑡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𝑐𝑛𝑡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13563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08747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9376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005597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81794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67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17054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6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519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73844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536535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52C47C9-4DCB-12E0-7162-476B6D2E12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0238700"/>
                  </p:ext>
                </p:extLst>
              </p:nvPr>
            </p:nvGraphicFramePr>
            <p:xfrm>
              <a:off x="7951744" y="1655632"/>
              <a:ext cx="3794000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48500">
                      <a:extLst>
                        <a:ext uri="{9D8B030D-6E8A-4147-A177-3AD203B41FA5}">
                          <a16:colId xmlns:a16="http://schemas.microsoft.com/office/drawing/2014/main" val="4270653478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2539956876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3914664233"/>
                        </a:ext>
                      </a:extLst>
                    </a:gridCol>
                    <a:gridCol w="948500">
                      <a:extLst>
                        <a:ext uri="{9D8B030D-6E8A-4147-A177-3AD203B41FA5}">
                          <a16:colId xmlns:a16="http://schemas.microsoft.com/office/drawing/2014/main" val="42240782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1" t="-8197" r="-301923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41" t="-8197" r="-201923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935" t="-8197" r="-103226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8197" r="-2564" b="-10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13563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08747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9376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005597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81794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67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17054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6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519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73844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5365354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61884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E169F-E960-7EBF-9A7A-E20B8D7DE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 of a Module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076857-5E8F-BF43-4885-983B9D9FCB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200" dirty="0"/>
                  <a:t>Counter example from previous slide:</a:t>
                </a:r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𝑠𝑡𝑎𝑟𝑡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]=1  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cnt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</m:d>
                        <m:r>
                          <a:rPr lang="en-US" sz="200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br>
                  <a:rPr lang="en-US" sz="200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𝑐𝑛𝑡</m:t>
                    </m:r>
                    <m:r>
                      <m:rPr>
                        <m:lit/>
                      </m:rPr>
                      <a:rPr lang="en-US" sz="2000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𝑖𝑛𝑖𝑡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2000" dirty="0"/>
                  <a:t>Else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←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{0,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𝑐𝑛𝑡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−1}</m:t>
                        </m:r>
                      </m:e>
                    </m:func>
                  </m:oMath>
                </a14:m>
                <a:endParaRPr lang="en-US" sz="2000" dirty="0"/>
              </a:p>
              <a:p>
                <a:r>
                  <a:rPr lang="en-US" sz="2200" dirty="0">
                    <a:solidFill>
                      <a:schemeClr val="accent1"/>
                    </a:solidFill>
                  </a:rPr>
                  <a:t>Inputs</a:t>
                </a:r>
                <a:r>
                  <a:rPr lang="en-US" sz="2200" dirty="0"/>
                  <a:t>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𝑠𝑡𝑎𝑟𝑡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𝑐𝑛𝑡</m:t>
                    </m:r>
                    <m:r>
                      <m:rPr>
                        <m:lit/>
                      </m:rPr>
                      <a:rPr lang="en-US" sz="2200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𝑖𝑛𝑖𝑡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000" dirty="0"/>
                  <a:t>What the module takes as input</a:t>
                </a:r>
              </a:p>
              <a:p>
                <a:r>
                  <a:rPr lang="en-US" sz="2200" dirty="0">
                    <a:solidFill>
                      <a:schemeClr val="accent1"/>
                    </a:solidFill>
                  </a:rPr>
                  <a:t>Output</a:t>
                </a:r>
                <a:r>
                  <a:rPr lang="en-US" sz="2200" dirty="0"/>
                  <a:t>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𝑐𝑛𝑡</m:t>
                    </m:r>
                  </m:oMath>
                </a14:m>
                <a:endParaRPr lang="en-US" sz="2200" b="0" dirty="0"/>
              </a:p>
              <a:p>
                <a:pPr lvl="1"/>
                <a:r>
                  <a:rPr lang="en-US" sz="2000" dirty="0"/>
                  <a:t>What the module produces</a:t>
                </a:r>
              </a:p>
              <a:p>
                <a:r>
                  <a:rPr lang="en-US" sz="2200" dirty="0">
                    <a:solidFill>
                      <a:schemeClr val="accent1"/>
                    </a:solidFill>
                  </a:rPr>
                  <a:t>State</a:t>
                </a:r>
                <a:r>
                  <a:rPr lang="en-US" sz="2200" dirty="0"/>
                  <a:t>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𝑐𝑛𝑡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000" dirty="0"/>
                  <a:t>What needs to be stored to compute the subsequent outputs given the inputs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076857-5E8F-BF43-4885-983B9D9FCB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76" t="-18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C8DB8-E5A5-401D-44BF-0EDD9DE8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969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9E3-E031-B332-BA09-D380FA32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State?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4B45FA-EC6C-EED5-C86A-C1D56A6EAF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Definition</a:t>
                </a:r>
                <a:r>
                  <a:rPr lang="en-US" sz="2400" dirty="0"/>
                  <a:t>:  A state is a set of variables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such that:</a:t>
                </a:r>
              </a:p>
              <a:p>
                <a:pPr lvl="1"/>
                <a:r>
                  <a:rPr lang="en-US" sz="2000" dirty="0"/>
                  <a:t>Given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and inputs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𝑖𝑛𝑝𝑢𝑡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𝑖𝑛𝑝𝑢𝑡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Outputs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𝑜𝑢𝑡𝑝𝑢𝑡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𝑜𝑢𝑡𝑝𝑢𝑡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r>
                  <a:rPr lang="en-US" sz="2000" dirty="0"/>
                  <a:t>  are fully determined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In our case: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is the state </a:t>
                </a:r>
              </a:p>
              <a:p>
                <a:pPr lvl="1"/>
                <a:r>
                  <a:rPr lang="en-US" sz="2000" dirty="0"/>
                  <a:t>Given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and future inputs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r>
                      <m:rPr>
                        <m:lit/>
                      </m:rPr>
                      <a:rPr lang="en-US" sz="2000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𝑖𝑛𝑖𝑡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𝑠𝑡𝑎𝑟𝑡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We can fully determine future outputs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cnt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𝑐𝑛𝑡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4B45FA-EC6C-EED5-C86A-C1D56A6EAF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4B395-3606-E2C9-AF37-B6D57983E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569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C6C9C-86E3-6FD7-24AC-0620FF1A8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 as an FSM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F3406A-9CE7-B6C7-51F0-BC6240C24D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General finite state machine</a:t>
                </a:r>
              </a:p>
              <a:p>
                <a:r>
                  <a:rPr lang="en-US" dirty="0"/>
                  <a:t>Update function: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𝑠𝑡𝑎𝑡𝑒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b="0" dirty="0"/>
                  <a:t>Describes how the state evolves</a:t>
                </a:r>
              </a:p>
              <a:p>
                <a:r>
                  <a:rPr lang="en-US" dirty="0"/>
                  <a:t>Output function: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𝑜𝑢𝑡𝑝𝑢𝑡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𝑖𝑛𝑝𝑢𝑡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F3406A-9CE7-B6C7-51F0-BC6240C24D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E5E66-F2F1-5EBE-2CB5-F1B29CBB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2E1A8E-BF4A-1FF6-B1B6-00E4E151FB09}"/>
              </a:ext>
            </a:extLst>
          </p:cNvPr>
          <p:cNvSpPr/>
          <p:nvPr/>
        </p:nvSpPr>
        <p:spPr>
          <a:xfrm>
            <a:off x="6174180" y="2742863"/>
            <a:ext cx="706554" cy="11318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C4A149-0D56-5A98-D4D8-B3F13A661421}"/>
                  </a:ext>
                </a:extLst>
              </p:cNvPr>
              <p:cNvSpPr txBox="1"/>
              <p:nvPr/>
            </p:nvSpPr>
            <p:spPr>
              <a:xfrm>
                <a:off x="6892490" y="2717287"/>
                <a:ext cx="9566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State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C4A149-0D56-5A98-D4D8-B3F13A661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490" y="2717287"/>
                <a:ext cx="956609" cy="369332"/>
              </a:xfrm>
              <a:prstGeom prst="rect">
                <a:avLst/>
              </a:prstGeom>
              <a:blipFill>
                <a:blip r:embed="rId3"/>
                <a:stretch>
                  <a:fillRect l="-5732" t="-10000" r="-1911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7B0294-A559-F542-4D70-4DD3E8EE4C43}"/>
              </a:ext>
            </a:extLst>
          </p:cNvPr>
          <p:cNvSpPr/>
          <p:nvPr/>
        </p:nvSpPr>
        <p:spPr>
          <a:xfrm>
            <a:off x="7844706" y="2742863"/>
            <a:ext cx="2537733" cy="11318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Update and output functions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FC5047-FFF9-9B75-CD0C-8962E875AA1A}"/>
                  </a:ext>
                </a:extLst>
              </p:cNvPr>
              <p:cNvSpPr txBox="1"/>
              <p:nvPr/>
            </p:nvSpPr>
            <p:spPr>
              <a:xfrm>
                <a:off x="10648569" y="2611422"/>
                <a:ext cx="15098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utput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5FC5047-FFF9-9B75-CD0C-8962E875A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8569" y="2611422"/>
                <a:ext cx="1509846" cy="369332"/>
              </a:xfrm>
              <a:prstGeom prst="rect">
                <a:avLst/>
              </a:prstGeom>
              <a:blipFill>
                <a:blip r:embed="rId4"/>
                <a:stretch>
                  <a:fillRect l="-3644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8DF99-ED6A-1E47-5FBD-5AA7A6B28E9A}"/>
                  </a:ext>
                </a:extLst>
              </p:cNvPr>
              <p:cNvSpPr txBox="1"/>
              <p:nvPr/>
            </p:nvSpPr>
            <p:spPr>
              <a:xfrm>
                <a:off x="8556113" y="1622525"/>
                <a:ext cx="11149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dirty="0"/>
                  <a:t>Input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8DF99-ED6A-1E47-5FBD-5AA7A6B2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13" y="1622525"/>
                <a:ext cx="1114918" cy="369332"/>
              </a:xfrm>
              <a:prstGeom prst="rect">
                <a:avLst/>
              </a:prstGeom>
              <a:blipFill>
                <a:blip r:embed="rId5"/>
                <a:stretch>
                  <a:fillRect l="-4945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2A7DC9-2474-4F2B-B5F6-770D457BFE0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9113573" y="2067699"/>
            <a:ext cx="0" cy="675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28343B-40F7-6868-0386-5943221E2280}"/>
              </a:ext>
            </a:extLst>
          </p:cNvPr>
          <p:cNvCxnSpPr>
            <a:cxnSpLocks/>
          </p:cNvCxnSpPr>
          <p:nvPr/>
        </p:nvCxnSpPr>
        <p:spPr>
          <a:xfrm>
            <a:off x="10370776" y="3086619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5249E9-9475-CCCD-A268-C49461BE4566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5587438" y="3308805"/>
            <a:ext cx="5867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292ECBB-3CBD-7825-5995-801A2D94AB08}"/>
              </a:ext>
            </a:extLst>
          </p:cNvPr>
          <p:cNvCxnSpPr>
            <a:cxnSpLocks/>
          </p:cNvCxnSpPr>
          <p:nvPr/>
        </p:nvCxnSpPr>
        <p:spPr>
          <a:xfrm>
            <a:off x="10382439" y="3576236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AA7E88D-4E73-876A-B140-896DFBC4F94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880734" y="3308805"/>
            <a:ext cx="963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CEC02BB-F66D-2284-9CC1-D87B7E2F16BF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87438" y="3571585"/>
            <a:ext cx="5643010" cy="1419135"/>
          </a:xfrm>
          <a:prstGeom prst="bentConnector3">
            <a:avLst>
              <a:gd name="adj1" fmla="val -85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714D26-FE03-048C-8AC3-BE39C25D425B}"/>
              </a:ext>
            </a:extLst>
          </p:cNvPr>
          <p:cNvCxnSpPr>
            <a:cxnSpLocks/>
          </p:cNvCxnSpPr>
          <p:nvPr/>
        </p:nvCxnSpPr>
        <p:spPr>
          <a:xfrm>
            <a:off x="5587438" y="3308805"/>
            <a:ext cx="0" cy="1681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0E86D82-5E16-264F-D693-78F884CE5110}"/>
                  </a:ext>
                </a:extLst>
              </p:cNvPr>
              <p:cNvSpPr txBox="1"/>
              <p:nvPr/>
            </p:nvSpPr>
            <p:spPr>
              <a:xfrm>
                <a:off x="6892490" y="5106353"/>
                <a:ext cx="28815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State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 err="1"/>
                  <a:t>state_next</a:t>
                </a:r>
                <a:r>
                  <a:rPr lang="en-US" dirty="0"/>
                  <a:t>[k]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0E86D82-5E16-264F-D693-78F884CE5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490" y="5106353"/>
                <a:ext cx="2881558" cy="369332"/>
              </a:xfrm>
              <a:prstGeom prst="rect">
                <a:avLst/>
              </a:prstGeom>
              <a:blipFill>
                <a:blip r:embed="rId6"/>
                <a:stretch>
                  <a:fillRect l="-1907" t="-10000" r="-148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318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F958-EB51-6387-6352-61344458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77E65-2EBB-8213-F62E-2B6184DD2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an FSM in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3B9F-BA9F-F3E8-A046-488A79653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States are stored in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registers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Basic storage element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r>
              <a:rPr lang="en-US" sz="2600" dirty="0">
                <a:solidFill>
                  <a:schemeClr val="tx1"/>
                </a:solidFill>
              </a:rPr>
              <a:t>Update and output functions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Implemented in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combinational logic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No storage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Takes input and current state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Produces next state and output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Must finish within one clock cycle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3B231-2DED-E621-2032-D6A2B56E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0DF525-8E98-6468-ADEE-FC1E3636476E}"/>
              </a:ext>
            </a:extLst>
          </p:cNvPr>
          <p:cNvSpPr/>
          <p:nvPr/>
        </p:nvSpPr>
        <p:spPr>
          <a:xfrm>
            <a:off x="6682742" y="2745363"/>
            <a:ext cx="706554" cy="11318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27DCD4-92FC-3FEA-1870-8104919A1DC0}"/>
                  </a:ext>
                </a:extLst>
              </p:cNvPr>
              <p:cNvSpPr txBox="1"/>
              <p:nvPr/>
            </p:nvSpPr>
            <p:spPr>
              <a:xfrm>
                <a:off x="7401052" y="2719787"/>
                <a:ext cx="9566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State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27DCD4-92FC-3FEA-1870-8104919A1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052" y="2719787"/>
                <a:ext cx="956609" cy="369332"/>
              </a:xfrm>
              <a:prstGeom prst="rect">
                <a:avLst/>
              </a:prstGeom>
              <a:blipFill>
                <a:blip r:embed="rId2"/>
                <a:stretch>
                  <a:fillRect l="-5096" t="-8197" r="-2548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B3BBDE-73B8-4913-9D39-504A90AD2B19}"/>
              </a:ext>
            </a:extLst>
          </p:cNvPr>
          <p:cNvSpPr/>
          <p:nvPr/>
        </p:nvSpPr>
        <p:spPr>
          <a:xfrm>
            <a:off x="8353268" y="2745363"/>
            <a:ext cx="1711971" cy="11318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Update and output functions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A8C59C-D11B-3CDE-677B-2732A70488EE}"/>
                  </a:ext>
                </a:extLst>
              </p:cNvPr>
              <p:cNvSpPr txBox="1"/>
              <p:nvPr/>
            </p:nvSpPr>
            <p:spPr>
              <a:xfrm>
                <a:off x="10648569" y="2611422"/>
                <a:ext cx="15098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utput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A8C59C-D11B-3CDE-677B-2732A704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8569" y="2611422"/>
                <a:ext cx="1509846" cy="369332"/>
              </a:xfrm>
              <a:prstGeom prst="rect">
                <a:avLst/>
              </a:prstGeom>
              <a:blipFill>
                <a:blip r:embed="rId3"/>
                <a:stretch>
                  <a:fillRect l="-3644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67BF31-5240-598F-85FE-81D7E47DB63C}"/>
                  </a:ext>
                </a:extLst>
              </p:cNvPr>
              <p:cNvSpPr txBox="1"/>
              <p:nvPr/>
            </p:nvSpPr>
            <p:spPr>
              <a:xfrm>
                <a:off x="8741352" y="1515469"/>
                <a:ext cx="11149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dirty="0"/>
                  <a:t>Input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67BF31-5240-598F-85FE-81D7E47DB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1352" y="1515469"/>
                <a:ext cx="1114918" cy="369332"/>
              </a:xfrm>
              <a:prstGeom prst="rect">
                <a:avLst/>
              </a:prstGeom>
              <a:blipFill>
                <a:blip r:embed="rId4"/>
                <a:stretch>
                  <a:fillRect l="-4918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902F48-3533-719E-AB49-5D4C23E5C943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9209254" y="1994357"/>
            <a:ext cx="0" cy="751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B5D4EE-7883-BF7D-1C02-676E365BDE58}"/>
              </a:ext>
            </a:extLst>
          </p:cNvPr>
          <p:cNvCxnSpPr>
            <a:cxnSpLocks/>
          </p:cNvCxnSpPr>
          <p:nvPr/>
        </p:nvCxnSpPr>
        <p:spPr>
          <a:xfrm>
            <a:off x="10053576" y="3101591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57B1AE-14E6-9A6D-F9FA-45E1FA3C6F1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096000" y="3311305"/>
            <a:ext cx="5867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335727C-E1CD-597D-3F2B-0FA56174B2B1}"/>
              </a:ext>
            </a:extLst>
          </p:cNvPr>
          <p:cNvCxnSpPr>
            <a:cxnSpLocks/>
          </p:cNvCxnSpPr>
          <p:nvPr/>
        </p:nvCxnSpPr>
        <p:spPr>
          <a:xfrm>
            <a:off x="10065239" y="3591208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ED6C49C-4364-0C38-8FE9-2E59BE0A4BB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7389296" y="3311305"/>
            <a:ext cx="963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10BC2BA-8621-24C2-9F74-5A3C00C7DCA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96001" y="3583484"/>
            <a:ext cx="4809441" cy="1380587"/>
          </a:xfrm>
          <a:prstGeom prst="bentConnector3">
            <a:avLst>
              <a:gd name="adj1" fmla="val -147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60BEDC9-6729-1E88-9BDA-185ED277EF82}"/>
              </a:ext>
            </a:extLst>
          </p:cNvPr>
          <p:cNvCxnSpPr>
            <a:cxnSpLocks/>
          </p:cNvCxnSpPr>
          <p:nvPr/>
        </p:nvCxnSpPr>
        <p:spPr>
          <a:xfrm>
            <a:off x="6096000" y="3311305"/>
            <a:ext cx="0" cy="1681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143FA6A-A287-3898-158F-92E5E1F3DE09}"/>
                  </a:ext>
                </a:extLst>
              </p:cNvPr>
              <p:cNvSpPr txBox="1"/>
              <p:nvPr/>
            </p:nvSpPr>
            <p:spPr>
              <a:xfrm>
                <a:off x="7401052" y="5108853"/>
                <a:ext cx="28815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State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 err="1"/>
                  <a:t>state_next</a:t>
                </a:r>
                <a:r>
                  <a:rPr lang="en-US" dirty="0"/>
                  <a:t>[k]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143FA6A-A287-3898-158F-92E5E1F3D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052" y="5108853"/>
                <a:ext cx="2881558" cy="369332"/>
              </a:xfrm>
              <a:prstGeom prst="rect">
                <a:avLst/>
              </a:prstGeom>
              <a:blipFill>
                <a:blip r:embed="rId5"/>
                <a:stretch>
                  <a:fillRect l="-1691" t="-8197" r="-148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3FB300C7-0ACC-6063-FB81-756CBB36502C}"/>
              </a:ext>
            </a:extLst>
          </p:cNvPr>
          <p:cNvSpPr txBox="1"/>
          <p:nvPr/>
        </p:nvSpPr>
        <p:spPr>
          <a:xfrm>
            <a:off x="6389371" y="2307269"/>
            <a:ext cx="1123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Registers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B4E46-C04D-56BB-A43B-3657D6625A4E}"/>
              </a:ext>
            </a:extLst>
          </p:cNvPr>
          <p:cNvSpPr txBox="1"/>
          <p:nvPr/>
        </p:nvSpPr>
        <p:spPr>
          <a:xfrm>
            <a:off x="7884075" y="3949681"/>
            <a:ext cx="22485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Combinational logic</a:t>
            </a:r>
            <a:endParaRPr lang="en-US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6144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E92B1-A97D-53AC-17DF-46A912C17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Physical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B2C3E-B9B7-BDE3-692E-A050AF375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656070" cy="4329817"/>
          </a:xfrm>
        </p:spPr>
        <p:txBody>
          <a:bodyPr/>
          <a:lstStyle/>
          <a:p>
            <a:r>
              <a:rPr lang="en-US" dirty="0"/>
              <a:t>Basic storage element in synchronous logic</a:t>
            </a:r>
          </a:p>
          <a:p>
            <a:r>
              <a:rPr lang="en-US" dirty="0"/>
              <a:t>On each rising edge of </a:t>
            </a:r>
            <a:r>
              <a:rPr lang="en-US" dirty="0" err="1"/>
              <a:t>clk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Assigns </a:t>
            </a:r>
            <a:r>
              <a:rPr lang="en-US" dirty="0" err="1"/>
              <a:t>xreg</a:t>
            </a:r>
            <a:r>
              <a:rPr lang="en-US" dirty="0"/>
              <a:t> to x</a:t>
            </a:r>
          </a:p>
          <a:p>
            <a:r>
              <a:rPr lang="en-US" dirty="0"/>
              <a:t>Value of </a:t>
            </a:r>
            <a:r>
              <a:rPr lang="en-US" dirty="0" err="1"/>
              <a:t>xreg</a:t>
            </a:r>
            <a:r>
              <a:rPr lang="en-US" dirty="0"/>
              <a:t> is maintained even if x changes</a:t>
            </a:r>
          </a:p>
          <a:p>
            <a:r>
              <a:rPr lang="en-US" dirty="0"/>
              <a:t>Example below:  Input is “sampled” at rising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A63A6-E642-5955-7C66-AB62FB1F1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A67D62-9841-DC18-7791-401AD3C4B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4" y="642706"/>
            <a:ext cx="3987450" cy="25908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FF2819-6A50-59BC-4ACA-348D5F771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205" y="3877481"/>
            <a:ext cx="8453589" cy="159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125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4F87E-2ABF-333B-C61D-DF6E65F34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DFD28-FCFC-8373-7823-1ECDFD37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Register:  Discrete-Time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DF31E-BCD5-365A-2B4A-2CA8466555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7"/>
                <a:ext cx="6869619" cy="4329817"/>
              </a:xfrm>
            </p:spPr>
            <p:txBody>
              <a:bodyPr/>
              <a:lstStyle/>
              <a:p>
                <a:r>
                  <a:rPr lang="en-US" dirty="0"/>
                  <a:t>Suppose input has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in clock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Then register output is: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simple delay element</a:t>
                </a:r>
              </a:p>
              <a:p>
                <a:r>
                  <a:rPr lang="en-US" dirty="0"/>
                  <a:t>Example: 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=4, 8, 9, 1, 2 </m:t>
                    </m:r>
                  </m:oMath>
                </a14:m>
                <a:r>
                  <a:rPr lang="en-US" dirty="0"/>
                  <a:t> in clock cycles 0 to 4</a:t>
                </a:r>
              </a:p>
              <a:p>
                <a:pPr lvl="1"/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</m:oMath>
                </a14:m>
                <a:r>
                  <a:rPr lang="en-US" dirty="0"/>
                  <a:t> is initialized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in clock cycle 0</a:t>
                </a:r>
              </a:p>
              <a:p>
                <a:pPr lvl="1"/>
                <a:r>
                  <a:rPr lang="en-US" b="0" dirty="0"/>
                  <a:t>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0, 4, 8, 9, 1, 2 in clock cycles 0 to 5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DF31E-BCD5-365A-2B4A-2CA8466555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7"/>
                <a:ext cx="6869619" cy="4329817"/>
              </a:xfrm>
              <a:blipFill>
                <a:blip r:embed="rId2"/>
                <a:stretch>
                  <a:fillRect l="-213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81275-5AA5-4FC6-A8FD-0AC211AC4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7046B2-46A3-9167-A62F-0B082A3AB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073" y="2175821"/>
            <a:ext cx="3987450" cy="25908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C69E0D8-A0C3-92DB-6981-55F5D161EF9C}"/>
                  </a:ext>
                </a:extLst>
              </p:cNvPr>
              <p:cNvSpPr/>
              <p:nvPr/>
            </p:nvSpPr>
            <p:spPr>
              <a:xfrm>
                <a:off x="3567506" y="2556837"/>
                <a:ext cx="2964643" cy="914400"/>
              </a:xfrm>
              <a:prstGeom prst="round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𝑥𝑟𝑒𝑔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C69E0D8-A0C3-92DB-6981-55F5D161EF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506" y="2556837"/>
                <a:ext cx="2964643" cy="9144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149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BB89-A888-5968-C42D-1067C3265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the Counter in System Verilog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5D577-B34E-B2EC-33DC-416FDCA1D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The counter is a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module</a:t>
            </a:r>
          </a:p>
          <a:p>
            <a:r>
              <a:rPr lang="en-US" sz="2400" dirty="0">
                <a:solidFill>
                  <a:schemeClr val="tx1"/>
                </a:solidFill>
              </a:rPr>
              <a:t>The module definition describes: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Inputs and outputs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Must have a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clock</a:t>
            </a:r>
            <a:r>
              <a:rPr lang="en-US" sz="2000" dirty="0">
                <a:solidFill>
                  <a:schemeClr val="tx1"/>
                </a:solidFill>
              </a:rPr>
              <a:t> input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Typically, also a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reset</a:t>
            </a:r>
          </a:p>
          <a:p>
            <a:r>
              <a:rPr lang="en-US" sz="2400" dirty="0">
                <a:solidFill>
                  <a:schemeClr val="tx1"/>
                </a:solidFill>
              </a:rPr>
              <a:t>Does not need the internal state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Unless it happens to be an output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ACC04-D8F7-794E-51DD-04E4B9B7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BE066D-4B83-D7D2-4222-2DC4DEDC7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340" y="1969175"/>
            <a:ext cx="5052185" cy="259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12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0AC7-8075-E644-3962-EA787F205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 Main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D7019-3B31-64D2-296D-122758AEE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86" y="1655632"/>
            <a:ext cx="4402786" cy="123041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Combinational block (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always_comb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Takes current state and input</a:t>
            </a:r>
          </a:p>
          <a:p>
            <a:pPr lvl="1"/>
            <a:r>
              <a:rPr lang="en-US" dirty="0"/>
              <a:t>Describes next state and output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CD3F8-BCB5-E405-00BD-BA01EC554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C74475-04D0-6A56-1777-7D4344BF2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723" y="2886047"/>
            <a:ext cx="4032699" cy="26728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7599B0-AFA5-9CCF-ADF6-4A23394BD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549" y="3182331"/>
            <a:ext cx="4606737" cy="2128631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61B90E1-3FCC-62E1-38CD-FC07522D1181}"/>
              </a:ext>
            </a:extLst>
          </p:cNvPr>
          <p:cNvSpPr txBox="1">
            <a:spLocks/>
          </p:cNvSpPr>
          <p:nvPr/>
        </p:nvSpPr>
        <p:spPr>
          <a:xfrm>
            <a:off x="6126480" y="1655632"/>
            <a:ext cx="4402786" cy="123041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always_ff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dirty="0"/>
              <a:t>Registers values for next state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850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18406-350F-7DEC-9EB7-59A834961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8621-F42C-18D7-4484-F7BE502A8B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739455" cy="4329817"/>
          </a:xfrm>
        </p:spPr>
        <p:txBody>
          <a:bodyPr/>
          <a:lstStyle/>
          <a:p>
            <a:r>
              <a:rPr lang="en-US" dirty="0"/>
              <a:t>We now have the FSM description</a:t>
            </a:r>
          </a:p>
          <a:p>
            <a:r>
              <a:rPr lang="en-US" dirty="0"/>
              <a:t>Three parts</a:t>
            </a:r>
          </a:p>
          <a:p>
            <a:r>
              <a:rPr lang="en-US" dirty="0"/>
              <a:t>Module declaration</a:t>
            </a:r>
          </a:p>
          <a:p>
            <a:pPr lvl="1"/>
            <a:r>
              <a:rPr lang="en-US" dirty="0"/>
              <a:t>Inputs, outputs</a:t>
            </a:r>
          </a:p>
          <a:p>
            <a:r>
              <a:rPr lang="en-US" dirty="0" err="1"/>
              <a:t>Always_comb</a:t>
            </a:r>
            <a:r>
              <a:rPr lang="en-US" dirty="0"/>
              <a:t> block</a:t>
            </a:r>
          </a:p>
          <a:p>
            <a:pPr lvl="1"/>
            <a:r>
              <a:rPr lang="en-US" dirty="0"/>
              <a:t>Describes next state</a:t>
            </a:r>
          </a:p>
          <a:p>
            <a:r>
              <a:rPr lang="en-US" dirty="0" err="1"/>
              <a:t>Always_ff</a:t>
            </a:r>
            <a:r>
              <a:rPr lang="en-US" dirty="0"/>
              <a:t> block</a:t>
            </a:r>
          </a:p>
          <a:p>
            <a:pPr lvl="1"/>
            <a:r>
              <a:rPr lang="en-US" dirty="0"/>
              <a:t>Updates state from </a:t>
            </a:r>
            <a:r>
              <a:rPr lang="en-US" dirty="0" err="1"/>
              <a:t>next_state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DE08C-8708-6F58-F8E9-0B8520DAB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247754-D078-7FAA-C019-9C781DBFF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808" y="462895"/>
            <a:ext cx="3659304" cy="549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811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51E13-6B4D-B0A8-4647-46D15C8CE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CD185-9765-976F-DCEE-F62C22531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vs. Non-Blocking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5BA04-1DA6-C725-C279-A5312EA34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914F5A-34CB-016A-CE71-AFDFF825F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877678" cy="4329817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Blocking assignment</a:t>
            </a:r>
          </a:p>
          <a:p>
            <a:pPr lvl="1"/>
            <a:r>
              <a:rPr lang="en-US" dirty="0"/>
              <a:t>Use = in SV</a:t>
            </a:r>
          </a:p>
          <a:p>
            <a:pPr lvl="1"/>
            <a:r>
              <a:rPr lang="en-US" dirty="0"/>
              <a:t>Performed sequentially</a:t>
            </a:r>
          </a:p>
          <a:p>
            <a:pPr lvl="1"/>
            <a:r>
              <a:rPr lang="en-US" dirty="0"/>
              <a:t>Assigns temporary (i.e., non-state variables)</a:t>
            </a:r>
          </a:p>
          <a:p>
            <a:pPr lvl="1"/>
            <a:r>
              <a:rPr lang="en-US" dirty="0"/>
              <a:t>Used in </a:t>
            </a:r>
            <a:r>
              <a:rPr lang="en-US" dirty="0" err="1"/>
              <a:t>always_comb</a:t>
            </a:r>
            <a:r>
              <a:rPr lang="en-US" dirty="0"/>
              <a:t> or </a:t>
            </a:r>
            <a:r>
              <a:rPr lang="en-US" dirty="0" err="1"/>
              <a:t>always_ff</a:t>
            </a:r>
            <a:r>
              <a:rPr lang="en-US" dirty="0"/>
              <a:t> block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Non-blocking assignment</a:t>
            </a:r>
          </a:p>
          <a:p>
            <a:pPr lvl="1"/>
            <a:r>
              <a:rPr lang="en-US" dirty="0"/>
              <a:t>Use &lt;= in SV</a:t>
            </a:r>
          </a:p>
          <a:p>
            <a:pPr lvl="1"/>
            <a:r>
              <a:rPr lang="en-US" dirty="0"/>
              <a:t>Assigns registers / states</a:t>
            </a:r>
          </a:p>
          <a:p>
            <a:pPr lvl="1"/>
            <a:r>
              <a:rPr lang="en-US" dirty="0"/>
              <a:t>Only in </a:t>
            </a:r>
            <a:r>
              <a:rPr lang="en-US" dirty="0" err="1"/>
              <a:t>always_ff</a:t>
            </a:r>
            <a:r>
              <a:rPr lang="en-US" dirty="0"/>
              <a:t> block</a:t>
            </a:r>
          </a:p>
          <a:p>
            <a:pPr lvl="1"/>
            <a:r>
              <a:rPr lang="en-US" dirty="0"/>
              <a:t>Always update in parallel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D0572-E97C-C3D7-870B-A8D58192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792" y="1036315"/>
            <a:ext cx="4032699" cy="2672836"/>
          </a:xfrm>
          <a:prstGeom prst="rect">
            <a:avLst/>
          </a:prstGeom>
        </p:spPr>
      </p:pic>
      <p:sp>
        <p:nvSpPr>
          <p:cNvPr id="9" name="Left Brace 8">
            <a:extLst>
              <a:ext uri="{FF2B5EF4-FFF2-40B4-BE49-F238E27FC236}">
                <a16:creationId xmlns:a16="http://schemas.microsoft.com/office/drawing/2014/main" id="{AE97DDEF-9EC2-F980-B8F4-FB64F7C224B5}"/>
              </a:ext>
            </a:extLst>
          </p:cNvPr>
          <p:cNvSpPr/>
          <p:nvPr/>
        </p:nvSpPr>
        <p:spPr>
          <a:xfrm>
            <a:off x="7667625" y="1614488"/>
            <a:ext cx="485775" cy="1895475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B038DA-03E2-ED63-A568-CEB79A0B5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500" y="4204461"/>
            <a:ext cx="3499961" cy="1617224"/>
          </a:xfrm>
          <a:prstGeom prst="rect">
            <a:avLst/>
          </a:prstGeom>
        </p:spPr>
      </p:pic>
      <p:sp>
        <p:nvSpPr>
          <p:cNvPr id="15" name="Left Brace 14">
            <a:extLst>
              <a:ext uri="{FF2B5EF4-FFF2-40B4-BE49-F238E27FC236}">
                <a16:creationId xmlns:a16="http://schemas.microsoft.com/office/drawing/2014/main" id="{B456BFDD-131B-FB40-CB0C-A8D877B822DF}"/>
              </a:ext>
            </a:extLst>
          </p:cNvPr>
          <p:cNvSpPr/>
          <p:nvPr/>
        </p:nvSpPr>
        <p:spPr>
          <a:xfrm>
            <a:off x="7256341" y="4132482"/>
            <a:ext cx="485775" cy="168920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68A0A2-F74A-CFB2-5724-67E5E770DBAA}"/>
              </a:ext>
            </a:extLst>
          </p:cNvPr>
          <p:cNvCxnSpPr/>
          <p:nvPr/>
        </p:nvCxnSpPr>
        <p:spPr>
          <a:xfrm>
            <a:off x="5946126" y="2520915"/>
            <a:ext cx="14094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6890D-3556-D2F6-7428-13B792D8C435}"/>
              </a:ext>
            </a:extLst>
          </p:cNvPr>
          <p:cNvCxnSpPr>
            <a:cxnSpLocks/>
          </p:cNvCxnSpPr>
          <p:nvPr/>
        </p:nvCxnSpPr>
        <p:spPr>
          <a:xfrm>
            <a:off x="5117609" y="4036495"/>
            <a:ext cx="1909631" cy="904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356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B622-8459-73A6-D7D3-898654E6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964E3-DF48-E4ED-5889-F58D3712B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1E4A70-60F6-8312-FA54-9FB170582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498" y="1623529"/>
            <a:ext cx="10791092" cy="305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7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020DF-683B-5312-3E4C-A86C7CA57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Answer on LLM Auto-Grader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DF6F6-7AD7-EAF8-3394-3741A1BD1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11" y="1502063"/>
            <a:ext cx="10058400" cy="4329817"/>
          </a:xfrm>
        </p:spPr>
        <p:txBody>
          <a:bodyPr/>
          <a:lstStyle/>
          <a:p>
            <a:r>
              <a:rPr lang="en-US" dirty="0"/>
              <a:t>Use AI to get instant feedback</a:t>
            </a:r>
          </a:p>
          <a:p>
            <a:r>
              <a:rPr lang="en-US" dirty="0"/>
              <a:t>Enter your answer</a:t>
            </a:r>
          </a:p>
          <a:p>
            <a:r>
              <a:rPr lang="en-US" dirty="0"/>
              <a:t>Hit Grade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44B47-9A22-2A03-C4D1-03FACD43A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8F3A83-5F5E-262A-F620-05302C196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254" y="1557075"/>
            <a:ext cx="5734345" cy="4219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3A41AE-CC15-59EF-575D-545EB09AD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57" y="3184450"/>
            <a:ext cx="4265444" cy="2342117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B86A875E-B928-22E7-2C87-066449E3BDEC}"/>
              </a:ext>
            </a:extLst>
          </p:cNvPr>
          <p:cNvSpPr/>
          <p:nvPr/>
        </p:nvSpPr>
        <p:spPr>
          <a:xfrm>
            <a:off x="557223" y="5023769"/>
            <a:ext cx="770972" cy="678047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44AE96-40E3-7A2D-A299-64EB92A4DD58}"/>
              </a:ext>
            </a:extLst>
          </p:cNvPr>
          <p:cNvCxnSpPr/>
          <p:nvPr/>
        </p:nvCxnSpPr>
        <p:spPr>
          <a:xfrm flipH="1">
            <a:off x="959867" y="2808875"/>
            <a:ext cx="560765" cy="217233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463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02AD9-58EC-D633-ABD0-BE2F006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 FSM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B504ED-01D3-BA13-5AFC-2F2561AADC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Write the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FSM model </a:t>
                </a:r>
              </a:p>
              <a:p>
                <a:r>
                  <a:rPr lang="en-US" dirty="0"/>
                  <a:t>Remember:  Updates in </a:t>
                </a:r>
                <a:r>
                  <a:rPr lang="en-US" dirty="0" err="1"/>
                  <a:t>always_ff</a:t>
                </a:r>
                <a:r>
                  <a:rPr lang="en-US" dirty="0"/>
                  <a:t> are in parallel</a:t>
                </a:r>
              </a:p>
              <a:p>
                <a:pPr lvl="1"/>
                <a:r>
                  <a:rPr lang="en-US" dirty="0"/>
                  <a:t>Test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US" dirty="0"/>
                  <a:t> is based on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current</a:t>
                </a:r>
                <a:r>
                  <a:rPr lang="en-US" dirty="0"/>
                  <a:t> cycle value, not next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B504ED-01D3-BA13-5AFC-2F2561AADC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CD4CF-9B5E-8820-4108-99BF00C1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9356B-0E7C-1022-C774-0F232DA28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562" y="4184882"/>
            <a:ext cx="3379886" cy="17934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4933-7BB1-5EB5-E095-C9E618B18A3D}"/>
                  </a:ext>
                </a:extLst>
              </p:cNvPr>
              <p:cNvSpPr txBox="1"/>
              <p:nvPr/>
            </p:nvSpPr>
            <p:spPr>
              <a:xfrm>
                <a:off x="6910388" y="3892367"/>
                <a:ext cx="2496068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Equivalent FSM model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 </a:t>
                </a:r>
                <a:br>
                  <a:rPr lang="en-US" b="0" dirty="0"/>
                </a:br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&gt;30</m:t>
                    </m:r>
                  </m:oMath>
                </a14:m>
                <a:endParaRPr lang="en-US" b="0" dirty="0"/>
              </a:p>
              <a:p>
                <a:r>
                  <a:rPr lang="en-US" b="0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=−10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 if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&lt;0)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br>
                  <a:rPr lang="en-US" b="0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0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4933-7BB1-5EB5-E095-C9E618B18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388" y="3892367"/>
                <a:ext cx="2496068" cy="2031325"/>
              </a:xfrm>
              <a:prstGeom prst="rect">
                <a:avLst/>
              </a:prstGeom>
              <a:blipFill>
                <a:blip r:embed="rId4"/>
                <a:stretch>
                  <a:fillRect l="-2200" t="-1802" b="-2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88271BA4-DF4C-FD64-ED15-D6D172A74570}"/>
              </a:ext>
            </a:extLst>
          </p:cNvPr>
          <p:cNvSpPr/>
          <p:nvPr/>
        </p:nvSpPr>
        <p:spPr>
          <a:xfrm>
            <a:off x="5329238" y="4596954"/>
            <a:ext cx="978408" cy="484632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9D864E0-1DAB-9A2D-586D-14499B49E3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1072411"/>
                  </p:ext>
                </p:extLst>
              </p:nvPr>
            </p:nvGraphicFramePr>
            <p:xfrm>
              <a:off x="8559098" y="604870"/>
              <a:ext cx="2317716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572">
                      <a:extLst>
                        <a:ext uri="{9D8B030D-6E8A-4147-A177-3AD203B41FA5}">
                          <a16:colId xmlns:a16="http://schemas.microsoft.com/office/drawing/2014/main" val="4033626410"/>
                        </a:ext>
                      </a:extLst>
                    </a:gridCol>
                    <a:gridCol w="772572">
                      <a:extLst>
                        <a:ext uri="{9D8B030D-6E8A-4147-A177-3AD203B41FA5}">
                          <a16:colId xmlns:a16="http://schemas.microsoft.com/office/drawing/2014/main" val="2216830592"/>
                        </a:ext>
                      </a:extLst>
                    </a:gridCol>
                    <a:gridCol w="772572">
                      <a:extLst>
                        <a:ext uri="{9D8B030D-6E8A-4147-A177-3AD203B41FA5}">
                          <a16:colId xmlns:a16="http://schemas.microsoft.com/office/drawing/2014/main" val="34519865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26030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418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5879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4674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989551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80433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125791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9D864E0-1DAB-9A2D-586D-14499B49E3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1072411"/>
                  </p:ext>
                </p:extLst>
              </p:nvPr>
            </p:nvGraphicFramePr>
            <p:xfrm>
              <a:off x="8559098" y="604870"/>
              <a:ext cx="2317716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72572">
                      <a:extLst>
                        <a:ext uri="{9D8B030D-6E8A-4147-A177-3AD203B41FA5}">
                          <a16:colId xmlns:a16="http://schemas.microsoft.com/office/drawing/2014/main" val="4033626410"/>
                        </a:ext>
                      </a:extLst>
                    </a:gridCol>
                    <a:gridCol w="772572">
                      <a:extLst>
                        <a:ext uri="{9D8B030D-6E8A-4147-A177-3AD203B41FA5}">
                          <a16:colId xmlns:a16="http://schemas.microsoft.com/office/drawing/2014/main" val="2216830592"/>
                        </a:ext>
                      </a:extLst>
                    </a:gridCol>
                    <a:gridCol w="772572">
                      <a:extLst>
                        <a:ext uri="{9D8B030D-6E8A-4147-A177-3AD203B41FA5}">
                          <a16:colId xmlns:a16="http://schemas.microsoft.com/office/drawing/2014/main" val="34519865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87" t="-1639" r="-20315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787" t="-1639" r="-10315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787" t="-1639" r="-3150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26030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418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58791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4674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989551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280433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125791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50578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565A-F284-339C-A097-338BFD959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7993B-4FEE-7153-BE45-A3D62404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6A701-13E8-8BD6-21FD-404CA959D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249D7B-FC89-8151-096C-374CC14AB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9820"/>
            <a:ext cx="8538550" cy="4701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855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E61FD-254F-52A6-5103-88ACC301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FABA9-9761-1AD5-5D51-300ABA68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D62D55-BA0B-736C-C5A0-E0DF027A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799" y="1620294"/>
            <a:ext cx="4801587" cy="3617411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40F2776-6213-DBF6-3EA4-11E59F7E3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0616" y="1539277"/>
            <a:ext cx="4935064" cy="4329817"/>
          </a:xfrm>
        </p:spPr>
        <p:txBody>
          <a:bodyPr/>
          <a:lstStyle/>
          <a:p>
            <a:r>
              <a:rPr lang="en-US" dirty="0"/>
              <a:t>Try answering on the auto-grader</a:t>
            </a:r>
          </a:p>
        </p:txBody>
      </p:sp>
    </p:spTree>
    <p:extLst>
      <p:ext uri="{BB962C8B-B14F-4D97-AF65-F5344CB8AC3E}">
        <p14:creationId xmlns:p14="http://schemas.microsoft.com/office/powerpoint/2010/main" val="23123035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C5014-0720-A03A-ABD4-84340E91C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32E7B-8AE5-88A3-4E6C-99D414651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BC9C3-D1C4-1869-D601-CE9207EB2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Registers, Clocks and Sequential Logic and Finite State Machines</a:t>
            </a:r>
          </a:p>
          <a:p>
            <a:r>
              <a:rPr lang="en-US" sz="2400" dirty="0"/>
              <a:t>Splitting Long Computations</a:t>
            </a:r>
          </a:p>
          <a:p>
            <a:r>
              <a:rPr lang="en-US" sz="2400" dirty="0"/>
              <a:t>Simulating and Synthesizing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4F125-857D-0AE4-3684-0847AE05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BE99EA0-F7F4-BC1D-4860-058260EBA93A}"/>
              </a:ext>
            </a:extLst>
          </p:cNvPr>
          <p:cNvSpPr/>
          <p:nvPr/>
        </p:nvSpPr>
        <p:spPr>
          <a:xfrm>
            <a:off x="371916" y="249680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518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228E3-4921-0C56-A533-398EF8A07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AA303-E155-1E49-68C6-DD2D2C81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Version of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A4104D-32BF-8ACD-F4E9-F9B6C7725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5871" y="1770028"/>
                <a:ext cx="5859780" cy="3702156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Recall early  combinational example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0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A potential synchronous version could work as follows</a:t>
                </a:r>
              </a:p>
              <a:p>
                <a:r>
                  <a:rPr lang="en-US" dirty="0"/>
                  <a:t>On each clock cycle: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a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combinationally</a:t>
                </a:r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Why?</a:t>
                </a:r>
              </a:p>
              <a:p>
                <a:pPr lvl="1"/>
                <a:r>
                  <a:rPr lang="en-US" dirty="0"/>
                  <a:t>Output computation has a full clock cycle </a:t>
                </a:r>
              </a:p>
              <a:p>
                <a:pPr lvl="1"/>
                <a:r>
                  <a:rPr lang="en-US" dirty="0"/>
                  <a:t>Output is in a known state by the end of each clock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A4104D-32BF-8ACD-F4E9-F9B6C7725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5871" y="1770028"/>
                <a:ext cx="5859780" cy="3702156"/>
              </a:xfrm>
              <a:blipFill>
                <a:blip r:embed="rId2"/>
                <a:stretch>
                  <a:fillRect l="-2497" t="-1645" r="-1665" b="-1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ABB2A-F886-FABB-1956-DBB03482C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B13B11-05C0-308B-633A-E9B09FFDF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072" y="3290056"/>
            <a:ext cx="5416919" cy="166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8746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328A9B-5945-1698-33C1-CDB4B9C5C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714" y="2231841"/>
            <a:ext cx="4467849" cy="25054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BC700F-8425-AC74-ED49-156CC12A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44BE5-EE9C-4628-886D-D4D5F2635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482" y="1724561"/>
            <a:ext cx="4795805" cy="4004332"/>
          </a:xfrm>
        </p:spPr>
        <p:txBody>
          <a:bodyPr/>
          <a:lstStyle/>
          <a:p>
            <a:r>
              <a:rPr lang="en-US" sz="2400" dirty="0"/>
              <a:t>Making module synchronous is easy</a:t>
            </a:r>
          </a:p>
          <a:p>
            <a:r>
              <a:rPr lang="en-US" sz="2400" dirty="0"/>
              <a:t>First add two inputs to ports</a:t>
            </a:r>
          </a:p>
          <a:p>
            <a:pPr lvl="1"/>
            <a:r>
              <a:rPr lang="en-US" sz="2000" dirty="0">
                <a:solidFill>
                  <a:srgbClr val="00B050"/>
                </a:solidFill>
              </a:rPr>
              <a:t>Clock signal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Reset</a:t>
            </a:r>
          </a:p>
          <a:p>
            <a:pPr marL="201168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190D6-424F-828D-4896-0CF21198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F6D6C2-1F24-DA7D-CA88-CFE36C37DD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9663587" y="2630878"/>
            <a:ext cx="1030725" cy="1425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007E4-4D36-BCA1-3B22-50B8E566D05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9887068" y="3110702"/>
            <a:ext cx="807244" cy="5357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680E97-C491-5A57-BB00-7BF8B22CDD70}"/>
              </a:ext>
            </a:extLst>
          </p:cNvPr>
          <p:cNvSpPr txBox="1"/>
          <p:nvPr/>
        </p:nvSpPr>
        <p:spPr>
          <a:xfrm>
            <a:off x="10694312" y="2400045"/>
            <a:ext cx="849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Clock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BFEFE-EAC6-C656-B88C-F6ECBB697A03}"/>
              </a:ext>
            </a:extLst>
          </p:cNvPr>
          <p:cNvSpPr txBox="1"/>
          <p:nvPr/>
        </p:nvSpPr>
        <p:spPr>
          <a:xfrm>
            <a:off x="10694312" y="2933445"/>
            <a:ext cx="8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Reset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48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D53F-5A03-BB22-E08C-2B6B8D53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Verilog Main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EA93-333A-848E-930F-1BAD55552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Synchronous logic has two parts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always_ff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register outputs</a:t>
            </a:r>
          </a:p>
          <a:p>
            <a:pPr lvl="1"/>
            <a:r>
              <a:rPr lang="en-US" dirty="0"/>
              <a:t>All operations are in parallel (non-blocking)</a:t>
            </a:r>
          </a:p>
          <a:p>
            <a:pPr lvl="1"/>
            <a:r>
              <a:rPr lang="en-US" dirty="0"/>
              <a:t>Our example:  Saves inputs to registers</a:t>
            </a:r>
          </a:p>
          <a:p>
            <a:r>
              <a:rPr lang="en-US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always_comb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lvl="1"/>
            <a:r>
              <a:rPr lang="en-US" dirty="0"/>
              <a:t>Assigns signals via combinational logic</a:t>
            </a:r>
          </a:p>
          <a:p>
            <a:pPr lvl="1"/>
            <a:r>
              <a:rPr lang="en-US" dirty="0"/>
              <a:t>Operations are sequential (blocking)</a:t>
            </a:r>
          </a:p>
          <a:p>
            <a:pPr lvl="1"/>
            <a:r>
              <a:rPr lang="en-US" dirty="0"/>
              <a:t>Our example:  Computes output from registered inputs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4C9F-CEAE-BE7C-7287-337AF935C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B9EEFB-C2EC-92D3-9C08-06444C9C9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126" y="1539277"/>
            <a:ext cx="3898703" cy="439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610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0390-4115-440C-DC17-54227B35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5D85-6A2A-4111-C9C4-6F3B3F537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10058399" cy="4329817"/>
          </a:xfrm>
        </p:spPr>
        <p:txBody>
          <a:bodyPr/>
          <a:lstStyle/>
          <a:p>
            <a:r>
              <a:rPr lang="en-US" dirty="0"/>
              <a:t>Inputs are registered</a:t>
            </a:r>
          </a:p>
          <a:p>
            <a:r>
              <a:rPr lang="en-US" dirty="0"/>
              <a:t>Output is combinational from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DEC50-644A-8FE6-6FA0-BAD586B87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F40314-A49F-93B1-1EB5-F2D2D90D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65" y="2967991"/>
            <a:ext cx="10390228" cy="263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255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3FD85-1EED-7486-5268-0D614F4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CB295-1F25-DDDA-BA1A-0470E6B56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FSM Description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8C2539-4F47-08A6-8B2B-6D29A30ACC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561937" cy="4329817"/>
              </a:xfrm>
            </p:spPr>
            <p:txBody>
              <a:bodyPr/>
              <a:lstStyle/>
              <a:p>
                <a:r>
                  <a:rPr lang="en-US" dirty="0"/>
                  <a:t>States: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𝑏𝑟𝑒𝑔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Combinational statements: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𝑚𝑢𝑙𝑡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𝑜𝑢𝑡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𝑎𝑑𝑑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𝑜𝑢𝑡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{0, 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State updates: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Putting it together: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⁡{0,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]}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Desired output with one cycle delay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8C2539-4F47-08A6-8B2B-6D29A30AC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561937" cy="4329817"/>
              </a:xfrm>
              <a:blipFill>
                <a:blip r:embed="rId2"/>
                <a:stretch>
                  <a:fillRect l="-263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7ACC7-A60A-FC3E-42A2-1944B2102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2E174-6875-6B11-AEE9-1D4C403CF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126" y="1539277"/>
            <a:ext cx="3898703" cy="439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65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621-A59E-9A00-279D-23D4462AF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844" y="2557400"/>
            <a:ext cx="6431592" cy="3311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Complex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DCF24-DFBA-3C20-2850-3888BD5ED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863" y="861947"/>
            <a:ext cx="4002404" cy="481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2E0C-94CD-31C0-996B-ECDE6314D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2179-5EFE-D1D2-7E18-CC97CDD9C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Problems with Single Cycle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BFEB19-4F89-47EB-1375-FDF74A0755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5200" y="1905000"/>
                <a:ext cx="6115050" cy="3964094"/>
              </a:xfrm>
            </p:spPr>
            <p:txBody>
              <a:bodyPr/>
              <a:lstStyle/>
              <a:p>
                <a:r>
                  <a:rPr lang="en-US" dirty="0"/>
                  <a:t>Problem:   Each clock cycle has a “lot” to do</a:t>
                </a:r>
              </a:p>
              <a:p>
                <a:r>
                  <a:rPr lang="en-US" dirty="0"/>
                  <a:t>Longest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has:</a:t>
                </a:r>
              </a:p>
              <a:p>
                <a:pPr lvl="1"/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𝑥𝑠𝑞</m:t>
                    </m:r>
                  </m:oMath>
                </a14:m>
                <a:r>
                  <a:rPr lang="en-US" dirty="0"/>
                  <a:t> :  One multiply</a:t>
                </a:r>
              </a:p>
              <a:p>
                <a:pPr lvl="1"/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𝑥𝑠𝑞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:  One multiply</a:t>
                </a:r>
              </a:p>
              <a:p>
                <a:pPr lvl="1"/>
                <a:r>
                  <a:rPr lang="en-US" dirty="0"/>
                  <a:t>Add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:  One addition</a:t>
                </a:r>
              </a:p>
              <a:p>
                <a:pPr lvl="1"/>
                <a:r>
                  <a:rPr lang="en-US" dirty="0"/>
                  <a:t>We will discuss finding longest paths in detail later</a:t>
                </a:r>
              </a:p>
              <a:p>
                <a:r>
                  <a:rPr lang="en-US" dirty="0"/>
                  <a:t>In general, two multiplications in one clock cycle is hard</a:t>
                </a:r>
              </a:p>
              <a:p>
                <a:r>
                  <a:rPr lang="en-US" dirty="0"/>
                  <a:t>Typically, we limit to one multiplication</a:t>
                </a:r>
              </a:p>
              <a:p>
                <a:pPr lvl="1"/>
                <a:r>
                  <a:rPr lang="en-US" dirty="0"/>
                  <a:t>More on this later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BFEB19-4F89-47EB-1375-FDF74A0755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5200" y="1905000"/>
                <a:ext cx="6115050" cy="3964094"/>
              </a:xfrm>
              <a:blipFill>
                <a:blip r:embed="rId2"/>
                <a:stretch>
                  <a:fillRect l="-2393" t="-1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6020-97C5-A727-CEEC-B3FEDA06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1F946F-A98C-4B2E-46E8-86FE95D5F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277" y="1434204"/>
            <a:ext cx="4527673" cy="23313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4DDB72-7D9C-3F48-9EF4-D7F681D976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5189"/>
          <a:stretch>
            <a:fillRect/>
          </a:stretch>
        </p:blipFill>
        <p:spPr>
          <a:xfrm>
            <a:off x="7662863" y="3999939"/>
            <a:ext cx="4002404" cy="167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8180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reduce the computation per cycle by breaking operation in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904D9-0AA9-72AC-7B0B-1898F88BE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83163C-04E7-33B9-5E31-18B0EF5601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634177" cy="4329817"/>
              </a:xfrm>
            </p:spPr>
            <p:txBody>
              <a:bodyPr/>
              <a:lstStyle/>
              <a:p>
                <a:r>
                  <a:rPr lang="en-US" dirty="0"/>
                  <a:t>Registers: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𝑥𝑠𝑞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𝑙𝑖𝑛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𝑡𝑒𝑟𝑚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Updates: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𝑥𝑠𝑞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𝑙𝑖𝑛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𝑡𝑒𝑟𝑚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𝑥𝑠𝑞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𝑙𝑖𝑛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𝑡𝑒𝑟𝑚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r>
                  <a:rPr lang="en-US" b="0" dirty="0"/>
                  <a:t>Substituting in values: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𝑥𝑟𝑒𝑔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 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So, output matches desired equation</a:t>
                </a:r>
              </a:p>
              <a:p>
                <a:pPr lvl="1"/>
                <a:r>
                  <a:rPr lang="en-US" dirty="0"/>
                  <a:t>But at a two cycle delay</a:t>
                </a:r>
              </a:p>
              <a:p>
                <a:pPr lvl="1"/>
                <a:endParaRPr lang="en-US" b="0" dirty="0"/>
              </a:p>
              <a:p>
                <a:pPr lvl="1"/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83163C-04E7-33B9-5E31-18B0EF5601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634177" cy="4329817"/>
              </a:xfrm>
              <a:blipFill>
                <a:blip r:embed="rId2"/>
                <a:stretch>
                  <a:fillRect l="-220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7E6F9-19F4-0A4A-4FA3-26E074FEB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73DEB-F43F-A3A7-9662-5C8345891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022" y="1539277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87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78C2-8EFF-C96D-0111-2BB88A3F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Class Problem	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189ED-B070-D4E9-FFA0-F7CE56057B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0855" y="3540643"/>
                <a:ext cx="8564527" cy="2153093"/>
              </a:xfrm>
            </p:spPr>
            <p:txBody>
              <a:bodyPr/>
              <a:lstStyle/>
              <a:p>
                <a:r>
                  <a:rPr lang="en-US" dirty="0"/>
                  <a:t>Hint:</a:t>
                </a:r>
              </a:p>
              <a:p>
                <a:pPr lvl="1"/>
                <a:r>
                  <a:rPr lang="en-US" dirty="0"/>
                  <a:t>Write the computation graph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Add registers at input and intermediate variables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189ED-B070-D4E9-FFA0-F7CE56057B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0855" y="3540643"/>
                <a:ext cx="8564527" cy="2153093"/>
              </a:xfrm>
              <a:blipFill>
                <a:blip r:embed="rId2"/>
                <a:stretch>
                  <a:fillRect l="-1708" t="-3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C1122-680D-A4F3-469D-5547090F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4CF646-78CE-53B1-25EE-5BFCE32C5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83" y="1584319"/>
            <a:ext cx="5743870" cy="16479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7DFC5-D065-5F7A-7039-5C9F38AA7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7103" y="286603"/>
            <a:ext cx="4536558" cy="288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175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26696-6B04-F51E-3967-C84C22DA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F76E6-03D2-FEDC-3925-CF22CE0A6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FBDE2-42DF-FD3E-489C-2410320D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Combinational Logic</a:t>
            </a:r>
          </a:p>
          <a:p>
            <a:r>
              <a:rPr lang="en-US" sz="2400" dirty="0"/>
              <a:t>Registers, Clocks and Sequential Logic and Finite State Machines</a:t>
            </a:r>
          </a:p>
          <a:p>
            <a:r>
              <a:rPr lang="en-US" sz="2400" dirty="0"/>
              <a:t>Splitting Long Computations</a:t>
            </a:r>
          </a:p>
          <a:p>
            <a:r>
              <a:rPr lang="en-US" sz="2400" dirty="0"/>
              <a:t>Simulating and Synthesizing Modules in </a:t>
            </a:r>
            <a:r>
              <a:rPr lang="en-US" sz="2400" dirty="0" err="1"/>
              <a:t>Vivado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7712E-8466-5B71-D24B-55EA23EC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C89E111-3E92-AC40-6E5B-F61FC9227019}"/>
              </a:ext>
            </a:extLst>
          </p:cNvPr>
          <p:cNvSpPr/>
          <p:nvPr/>
        </p:nvSpPr>
        <p:spPr>
          <a:xfrm>
            <a:off x="351708" y="3012105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8104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953F2-D206-B1F2-D919-8C2079142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AB100-E1E6-FAC4-C1F0-44FCF7827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Hardware Roadmap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264F9-E6AE-9E97-11BD-FA2A3299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E97DC3-64A2-A6FB-92C8-CC34F2207C1F}"/>
              </a:ext>
            </a:extLst>
          </p:cNvPr>
          <p:cNvSpPr/>
          <p:nvPr/>
        </p:nvSpPr>
        <p:spPr>
          <a:xfrm>
            <a:off x="978360" y="1787857"/>
            <a:ext cx="1619589" cy="74189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FCC16A-4098-FB3D-8803-021DD2C14602}"/>
              </a:ext>
            </a:extLst>
          </p:cNvPr>
          <p:cNvSpPr/>
          <p:nvPr/>
        </p:nvSpPr>
        <p:spPr>
          <a:xfrm>
            <a:off x="978361" y="2711459"/>
            <a:ext cx="1619588" cy="8372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Functional simulation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6328E4-0381-476E-16AE-3E538864987C}"/>
              </a:ext>
            </a:extLst>
          </p:cNvPr>
          <p:cNvSpPr/>
          <p:nvPr/>
        </p:nvSpPr>
        <p:spPr>
          <a:xfrm>
            <a:off x="978361" y="3730439"/>
            <a:ext cx="1619588" cy="83727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9B63CF-0228-D0F7-4DB6-0F7B8D83457F}"/>
              </a:ext>
            </a:extLst>
          </p:cNvPr>
          <p:cNvSpPr/>
          <p:nvPr/>
        </p:nvSpPr>
        <p:spPr>
          <a:xfrm>
            <a:off x="978361" y="4749419"/>
            <a:ext cx="1619588" cy="837271"/>
          </a:xfrm>
          <a:prstGeom prst="roundRect">
            <a:avLst/>
          </a:prstGeom>
          <a:solidFill>
            <a:srgbClr val="F7F9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BDF47FD9-2680-8F5A-76BF-889A3D3A1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0125" y="1655632"/>
            <a:ext cx="6036476" cy="432981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Design</a:t>
            </a:r>
            <a:r>
              <a:rPr lang="en-US" dirty="0"/>
              <a:t>:</a:t>
            </a:r>
          </a:p>
          <a:p>
            <a:pPr lvl="1"/>
            <a:r>
              <a:rPr lang="en-US" sz="2000" dirty="0"/>
              <a:t>Write a behavioral description (e.g., in SV)</a:t>
            </a:r>
          </a:p>
          <a:p>
            <a:pPr lvl="1"/>
            <a:r>
              <a:rPr lang="en-US" sz="2000" dirty="0"/>
              <a:t>What should the module should do exactly?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Functional simulation</a:t>
            </a:r>
          </a:p>
          <a:p>
            <a:pPr lvl="1"/>
            <a:r>
              <a:rPr lang="en-US" sz="2000" dirty="0"/>
              <a:t>Validate module does what it is supposed to do?</a:t>
            </a:r>
          </a:p>
          <a:p>
            <a:pPr lvl="1"/>
            <a:r>
              <a:rPr lang="en-US" sz="2000" dirty="0"/>
              <a:t>Logical mapping from inputs to outputs</a:t>
            </a:r>
          </a:p>
          <a:p>
            <a:r>
              <a:rPr lang="en-US" dirty="0">
                <a:solidFill>
                  <a:srgbClr val="0070C0"/>
                </a:solidFill>
              </a:rPr>
              <a:t>Synthesis</a:t>
            </a:r>
          </a:p>
          <a:p>
            <a:pPr lvl="1"/>
            <a:r>
              <a:rPr lang="en-US" sz="2000" dirty="0"/>
              <a:t>Map the description into real hardware </a:t>
            </a:r>
          </a:p>
          <a:p>
            <a:pPr lvl="1"/>
            <a:r>
              <a:rPr lang="en-US" sz="2000" dirty="0"/>
              <a:t>Gates, FPGA components, …</a:t>
            </a:r>
          </a:p>
          <a:p>
            <a:r>
              <a:rPr lang="en-US" sz="2200" dirty="0">
                <a:solidFill>
                  <a:srgbClr val="0070C0"/>
                </a:solidFill>
              </a:rPr>
              <a:t>Next steps</a:t>
            </a:r>
          </a:p>
          <a:p>
            <a:pPr lvl="1"/>
            <a:r>
              <a:rPr lang="en-US" sz="2000" dirty="0"/>
              <a:t>Place route, timing analysis, bitstreams, …</a:t>
            </a:r>
          </a:p>
          <a:p>
            <a:pPr lvl="1"/>
            <a:endParaRPr lang="en-US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871D861-4435-923B-3B0F-F1A44788CFBE}"/>
              </a:ext>
            </a:extLst>
          </p:cNvPr>
          <p:cNvSpPr/>
          <p:nvPr/>
        </p:nvSpPr>
        <p:spPr>
          <a:xfrm>
            <a:off x="304800" y="2412999"/>
            <a:ext cx="484632" cy="2336419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6DF126CF-261C-CC58-02DB-80A6D6B6E8D0}"/>
              </a:ext>
            </a:extLst>
          </p:cNvPr>
          <p:cNvSpPr/>
          <p:nvPr/>
        </p:nvSpPr>
        <p:spPr>
          <a:xfrm>
            <a:off x="9009381" y="1821824"/>
            <a:ext cx="528319" cy="20146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6" name="Right Brace 25">
            <a:extLst>
              <a:ext uri="{FF2B5EF4-FFF2-40B4-BE49-F238E27FC236}">
                <a16:creationId xmlns:a16="http://schemas.microsoft.com/office/drawing/2014/main" id="{8DEFD2CC-FB78-9617-3757-082B29EDC83B}"/>
              </a:ext>
            </a:extLst>
          </p:cNvPr>
          <p:cNvSpPr/>
          <p:nvPr/>
        </p:nvSpPr>
        <p:spPr>
          <a:xfrm>
            <a:off x="9009381" y="4002695"/>
            <a:ext cx="528319" cy="1881269"/>
          </a:xfrm>
          <a:prstGeom prst="rightBrac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D35BD1-2B17-4759-4D23-6D1363C05567}"/>
              </a:ext>
            </a:extLst>
          </p:cNvPr>
          <p:cNvSpPr txBox="1"/>
          <p:nvPr/>
        </p:nvSpPr>
        <p:spPr>
          <a:xfrm>
            <a:off x="9906000" y="2623930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This unit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1B4A95-D8CB-4960-D99B-4E19A2E19AEF}"/>
              </a:ext>
            </a:extLst>
          </p:cNvPr>
          <p:cNvSpPr txBox="1"/>
          <p:nvPr/>
        </p:nvSpPr>
        <p:spPr>
          <a:xfrm>
            <a:off x="9905999" y="4749418"/>
            <a:ext cx="135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Later units…</a:t>
            </a:r>
          </a:p>
        </p:txBody>
      </p:sp>
    </p:spTree>
    <p:extLst>
      <p:ext uri="{BB962C8B-B14F-4D97-AF65-F5344CB8AC3E}">
        <p14:creationId xmlns:p14="http://schemas.microsoft.com/office/powerpoint/2010/main" val="2072640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C20BA-6938-119D-6C5A-3CD437F05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ED947-B1FC-9ABC-3ABA-018EF3245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Linear+ReLU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DDD1F-C57C-7A74-E8AB-D277DE9D7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771257" cy="4329817"/>
          </a:xfrm>
        </p:spPr>
        <p:txBody>
          <a:bodyPr/>
          <a:lstStyle/>
          <a:p>
            <a:r>
              <a:rPr lang="en-US" dirty="0"/>
              <a:t>All files in </a:t>
            </a:r>
            <a:r>
              <a:rPr lang="en-US" dirty="0" err="1"/>
              <a:t>github</a:t>
            </a:r>
            <a:r>
              <a:rPr lang="en-US" dirty="0"/>
              <a:t> repo:</a:t>
            </a:r>
            <a:br>
              <a:rPr lang="en-US" dirty="0"/>
            </a:br>
            <a:r>
              <a:rPr lang="en-US" dirty="0" err="1"/>
              <a:t>hwdesign</a:t>
            </a:r>
            <a:r>
              <a:rPr lang="en-US" dirty="0"/>
              <a:t>/demos/</a:t>
            </a:r>
            <a:r>
              <a:rPr lang="en-US" dirty="0" err="1"/>
              <a:t>fsm</a:t>
            </a:r>
            <a:endParaRPr lang="en-US" dirty="0"/>
          </a:p>
          <a:p>
            <a:r>
              <a:rPr lang="en-US" dirty="0"/>
              <a:t>Define counter in file counter.sv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C9F7E-5C49-5A50-FCA1-C7A04E32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80E79B-8F41-D6DA-3205-C0BA3B82F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665" y="2881265"/>
            <a:ext cx="5198041" cy="28861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AF681B-D1B7-F1F9-ECFC-BB34DC5C6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675" y="376123"/>
            <a:ext cx="4232045" cy="5543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6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29586-8909-ECB6-44BA-EAB0FC078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Step:  Build a Testbench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DD4EF-66DF-9E98-D84B-EE36AF21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4889262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Testbench</a:t>
            </a:r>
          </a:p>
          <a:p>
            <a:pPr lvl="1"/>
            <a:r>
              <a:rPr lang="en-US" sz="2200" dirty="0"/>
              <a:t>A second SV module</a:t>
            </a:r>
          </a:p>
          <a:p>
            <a:pPr lvl="1"/>
            <a:r>
              <a:rPr lang="en-US" sz="2200" dirty="0"/>
              <a:t>Connects to device under test</a:t>
            </a:r>
            <a:br>
              <a:rPr lang="en-US" sz="2200" dirty="0"/>
            </a:br>
            <a:r>
              <a:rPr lang="en-US" sz="2200" dirty="0"/>
              <a:t>(</a:t>
            </a:r>
            <a:r>
              <a:rPr lang="en-US" sz="2200" dirty="0" err="1"/>
              <a:t>i.e</a:t>
            </a:r>
            <a:r>
              <a:rPr lang="en-US" sz="2200" dirty="0"/>
              <a:t>, module we want to test)</a:t>
            </a:r>
          </a:p>
          <a:p>
            <a:pPr lvl="1"/>
            <a:r>
              <a:rPr lang="en-US" sz="2200" dirty="0"/>
              <a:t>TB provides DUT inputs</a:t>
            </a:r>
          </a:p>
          <a:p>
            <a:pPr lvl="1"/>
            <a:r>
              <a:rPr lang="en-US" sz="2200" dirty="0"/>
              <a:t>TB verifies DUT outputs are correct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B41F-34CF-71B3-5708-5592220F0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183C913-A7EE-B208-8B2A-8AE4ACC7E4EC}"/>
              </a:ext>
            </a:extLst>
          </p:cNvPr>
          <p:cNvSpPr/>
          <p:nvPr/>
        </p:nvSpPr>
        <p:spPr>
          <a:xfrm>
            <a:off x="10614607" y="2056140"/>
            <a:ext cx="1161452" cy="177827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5378B-F395-21B3-CD03-D22D795CA320}"/>
              </a:ext>
            </a:extLst>
          </p:cNvPr>
          <p:cNvSpPr/>
          <p:nvPr/>
        </p:nvSpPr>
        <p:spPr>
          <a:xfrm>
            <a:off x="7246160" y="1904421"/>
            <a:ext cx="1223856" cy="183974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D1FB1-EBB5-C569-9F65-23A3DA5F8838}"/>
              </a:ext>
            </a:extLst>
          </p:cNvPr>
          <p:cNvCxnSpPr>
            <a:cxnSpLocks/>
          </p:cNvCxnSpPr>
          <p:nvPr/>
        </p:nvCxnSpPr>
        <p:spPr>
          <a:xfrm>
            <a:off x="8497355" y="2328942"/>
            <a:ext cx="205613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B6D041-EEB4-3468-D428-62356CB07444}"/>
                  </a:ext>
                </a:extLst>
              </p:cNvPr>
              <p:cNvSpPr txBox="1"/>
              <p:nvPr/>
            </p:nvSpPr>
            <p:spPr>
              <a:xfrm>
                <a:off x="8728221" y="1581256"/>
                <a:ext cx="852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B6D041-EEB4-3468-D428-62356CB07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221" y="1581256"/>
                <a:ext cx="852093" cy="646331"/>
              </a:xfrm>
              <a:prstGeom prst="rect">
                <a:avLst/>
              </a:prstGeom>
              <a:blipFill>
                <a:blip r:embed="rId2"/>
                <a:stretch>
                  <a:fillRect l="-6429"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31D1A8-4282-EC04-261C-22CA2B0DAFB9}"/>
                  </a:ext>
                </a:extLst>
              </p:cNvPr>
              <p:cNvSpPr txBox="1"/>
              <p:nvPr/>
            </p:nvSpPr>
            <p:spPr>
              <a:xfrm>
                <a:off x="8794738" y="3456523"/>
                <a:ext cx="946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Outputs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31D1A8-4282-EC04-261C-22CA2B0DA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4738" y="3456523"/>
                <a:ext cx="946093" cy="646331"/>
              </a:xfrm>
              <a:prstGeom prst="rect">
                <a:avLst/>
              </a:prstGeom>
              <a:blipFill>
                <a:blip r:embed="rId3"/>
                <a:stretch>
                  <a:fillRect l="-5806" t="-4717" r="-5806" b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C466E8-0BF9-0D19-5E84-79B0726679DF}"/>
              </a:ext>
            </a:extLst>
          </p:cNvPr>
          <p:cNvCxnSpPr>
            <a:cxnSpLocks/>
          </p:cNvCxnSpPr>
          <p:nvPr/>
        </p:nvCxnSpPr>
        <p:spPr>
          <a:xfrm flipH="1">
            <a:off x="8497355" y="3334277"/>
            <a:ext cx="211725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A3B44F9-261A-B2ED-F21A-418EA24748F6}"/>
              </a:ext>
            </a:extLst>
          </p:cNvPr>
          <p:cNvSpPr txBox="1"/>
          <p:nvPr/>
        </p:nvSpPr>
        <p:spPr>
          <a:xfrm>
            <a:off x="7043731" y="4073549"/>
            <a:ext cx="1838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Testbench</a:t>
            </a:r>
            <a:br>
              <a:rPr lang="en-US" sz="2400" dirty="0"/>
            </a:br>
            <a:r>
              <a:rPr lang="en-US" sz="2400" dirty="0"/>
              <a:t>tb_lin_rely.sv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A64217-36FD-BE2D-36E3-5977C33FC5F0}"/>
              </a:ext>
            </a:extLst>
          </p:cNvPr>
          <p:cNvSpPr txBox="1"/>
          <p:nvPr/>
        </p:nvSpPr>
        <p:spPr>
          <a:xfrm>
            <a:off x="10383739" y="4077917"/>
            <a:ext cx="14631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DUT</a:t>
            </a:r>
            <a:br>
              <a:rPr lang="en-US" sz="2400" dirty="0"/>
            </a:br>
            <a:r>
              <a:rPr lang="en-US" sz="2400" dirty="0"/>
              <a:t>lin_relu.sv</a:t>
            </a:r>
          </a:p>
        </p:txBody>
      </p:sp>
    </p:spTree>
    <p:extLst>
      <p:ext uri="{BB962C8B-B14F-4D97-AF65-F5344CB8AC3E}">
        <p14:creationId xmlns:p14="http://schemas.microsoft.com/office/powerpoint/2010/main" val="3373863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7F2FB-2E14-6AAA-2F32-BDEEF6335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BF65B-5403-3A32-620E-35561CD09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Testbenches are not Synthesized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C0D5A-55B5-57A9-6F42-A825259E1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8" y="1539277"/>
            <a:ext cx="5824159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Testbenches are for simulation only</a:t>
            </a:r>
          </a:p>
          <a:p>
            <a:r>
              <a:rPr lang="en-US" sz="2400" dirty="0">
                <a:solidFill>
                  <a:schemeClr val="tx1"/>
                </a:solidFill>
              </a:rPr>
              <a:t>They will not be synthesized</a:t>
            </a:r>
          </a:p>
          <a:p>
            <a:r>
              <a:rPr lang="en-US" sz="2400" dirty="0">
                <a:solidFill>
                  <a:schemeClr val="tx1"/>
                </a:solidFill>
              </a:rPr>
              <a:t>Can include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un-synthesizable</a:t>
            </a:r>
            <a:r>
              <a:rPr lang="en-US" sz="2400" dirty="0">
                <a:solidFill>
                  <a:schemeClr val="tx1"/>
                </a:solidFill>
              </a:rPr>
              <a:t> constructs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Print statements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File read and write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Complex data structures</a:t>
            </a:r>
          </a:p>
          <a:p>
            <a:r>
              <a:rPr lang="en-US" sz="2200" dirty="0">
                <a:solidFill>
                  <a:schemeClr val="tx1"/>
                </a:solidFill>
              </a:rPr>
              <a:t>Modern trend: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Write TB in higher level language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E.g.,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67ED3-6EBB-CB25-6D8A-C2F832CC6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0FBF9A-368A-F5AB-EAFD-478F1EDEF9F2}"/>
              </a:ext>
            </a:extLst>
          </p:cNvPr>
          <p:cNvSpPr/>
          <p:nvPr/>
        </p:nvSpPr>
        <p:spPr>
          <a:xfrm>
            <a:off x="10614607" y="2056140"/>
            <a:ext cx="1161452" cy="177827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69082A9-6A00-60F6-6A18-AE4CAB871A56}"/>
              </a:ext>
            </a:extLst>
          </p:cNvPr>
          <p:cNvSpPr/>
          <p:nvPr/>
        </p:nvSpPr>
        <p:spPr>
          <a:xfrm>
            <a:off x="7246160" y="1904421"/>
            <a:ext cx="1223856" cy="183974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5FB851D-D972-B3AC-0BFD-1280F67F0B37}"/>
              </a:ext>
            </a:extLst>
          </p:cNvPr>
          <p:cNvCxnSpPr>
            <a:cxnSpLocks/>
          </p:cNvCxnSpPr>
          <p:nvPr/>
        </p:nvCxnSpPr>
        <p:spPr>
          <a:xfrm>
            <a:off x="8497355" y="2328942"/>
            <a:ext cx="205613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8103B8-9A8B-640F-6EED-F9781528B83D}"/>
                  </a:ext>
                </a:extLst>
              </p:cNvPr>
              <p:cNvSpPr txBox="1"/>
              <p:nvPr/>
            </p:nvSpPr>
            <p:spPr>
              <a:xfrm>
                <a:off x="8728221" y="1581256"/>
                <a:ext cx="852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8103B8-9A8B-640F-6EED-F9781528B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221" y="1581256"/>
                <a:ext cx="852093" cy="646331"/>
              </a:xfrm>
              <a:prstGeom prst="rect">
                <a:avLst/>
              </a:prstGeom>
              <a:blipFill>
                <a:blip r:embed="rId2"/>
                <a:stretch>
                  <a:fillRect l="-6429"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DE7DEFD-F72A-97CB-7753-E67C9FA7BE6B}"/>
                  </a:ext>
                </a:extLst>
              </p:cNvPr>
              <p:cNvSpPr txBox="1"/>
              <p:nvPr/>
            </p:nvSpPr>
            <p:spPr>
              <a:xfrm>
                <a:off x="8794738" y="3456523"/>
                <a:ext cx="946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Outputs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DE7DEFD-F72A-97CB-7753-E67C9FA7B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4738" y="3456523"/>
                <a:ext cx="946093" cy="646331"/>
              </a:xfrm>
              <a:prstGeom prst="rect">
                <a:avLst/>
              </a:prstGeom>
              <a:blipFill>
                <a:blip r:embed="rId3"/>
                <a:stretch>
                  <a:fillRect l="-5806" t="-4717" r="-5806" b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97C807A-F5CC-22C9-1F7B-A3A8AAFB400E}"/>
              </a:ext>
            </a:extLst>
          </p:cNvPr>
          <p:cNvCxnSpPr>
            <a:cxnSpLocks/>
          </p:cNvCxnSpPr>
          <p:nvPr/>
        </p:nvCxnSpPr>
        <p:spPr>
          <a:xfrm flipH="1">
            <a:off x="8497355" y="3334277"/>
            <a:ext cx="211725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D129DFF-2BA2-3D64-2CD3-C6A14976FC61}"/>
              </a:ext>
            </a:extLst>
          </p:cNvPr>
          <p:cNvSpPr txBox="1"/>
          <p:nvPr/>
        </p:nvSpPr>
        <p:spPr>
          <a:xfrm>
            <a:off x="7043731" y="4073549"/>
            <a:ext cx="1838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Testbench</a:t>
            </a:r>
            <a:br>
              <a:rPr lang="en-US" sz="2400" dirty="0"/>
            </a:br>
            <a:r>
              <a:rPr lang="en-US" sz="2400" dirty="0"/>
              <a:t>tb_lin_rely.sv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E96C98-F2FB-A2ED-FE48-9317EC448F16}"/>
              </a:ext>
            </a:extLst>
          </p:cNvPr>
          <p:cNvSpPr txBox="1"/>
          <p:nvPr/>
        </p:nvSpPr>
        <p:spPr>
          <a:xfrm>
            <a:off x="10383739" y="4077917"/>
            <a:ext cx="14631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DUT</a:t>
            </a:r>
            <a:br>
              <a:rPr lang="en-US" sz="2400" dirty="0"/>
            </a:br>
            <a:r>
              <a:rPr lang="en-US" sz="2400" dirty="0"/>
              <a:t>lin_relu.sv</a:t>
            </a:r>
          </a:p>
        </p:txBody>
      </p:sp>
    </p:spTree>
    <p:extLst>
      <p:ext uri="{BB962C8B-B14F-4D97-AF65-F5344CB8AC3E}">
        <p14:creationId xmlns:p14="http://schemas.microsoft.com/office/powerpoint/2010/main" val="37406038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4B08F-7261-1C9D-1C1F-DA4964FC5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389BD-8F90-85BE-A7D8-438869491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13A6F-D239-E6A9-56B6-9D4A65E83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Testbench</a:t>
            </a:r>
            <a:r>
              <a:rPr lang="en-US" dirty="0"/>
              <a:t>: a module to test the module</a:t>
            </a:r>
          </a:p>
          <a:p>
            <a:pPr lvl="1"/>
            <a:r>
              <a:rPr lang="en-US" dirty="0"/>
              <a:t>Will not be synthesized</a:t>
            </a:r>
          </a:p>
          <a:p>
            <a:pPr lvl="1"/>
            <a:r>
              <a:rPr lang="en-US" dirty="0"/>
              <a:t>Can have un-synthesizable constructs</a:t>
            </a:r>
          </a:p>
          <a:p>
            <a:pPr lvl="1"/>
            <a:r>
              <a:rPr lang="en-US" dirty="0"/>
              <a:t>Ex: Read / write from file</a:t>
            </a:r>
          </a:p>
          <a:p>
            <a:endParaRPr lang="en-US" dirty="0"/>
          </a:p>
          <a:p>
            <a:r>
              <a:rPr lang="en-US" dirty="0"/>
              <a:t>Create a clock</a:t>
            </a:r>
          </a:p>
          <a:p>
            <a:endParaRPr lang="en-US" dirty="0"/>
          </a:p>
          <a:p>
            <a:r>
              <a:rPr lang="en-US" dirty="0"/>
              <a:t>Instantiate an instance of module to test</a:t>
            </a:r>
          </a:p>
          <a:p>
            <a:pPr lvl="1"/>
            <a:r>
              <a:rPr lang="en-US" dirty="0"/>
              <a:t>Called the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DUT</a:t>
            </a:r>
            <a:r>
              <a:rPr lang="en-US" dirty="0"/>
              <a:t> =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device under test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Connect DUT to testbench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3069E-778C-47B5-25E1-B32A1CC0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DB4A1B-225B-4154-6B27-4491D52AE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324" y="3066886"/>
            <a:ext cx="3602314" cy="30522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53708C-C900-4921-D75F-C6C8BC6E2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583" y="515575"/>
            <a:ext cx="3131223" cy="226779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88EB95-EB80-0D3F-E0CE-53ECB54A1EA2}"/>
              </a:ext>
            </a:extLst>
          </p:cNvPr>
          <p:cNvCxnSpPr/>
          <p:nvPr/>
        </p:nvCxnSpPr>
        <p:spPr>
          <a:xfrm>
            <a:off x="5429250" y="1876425"/>
            <a:ext cx="1290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9B6E42-5885-CD78-0381-71857BA73B03}"/>
              </a:ext>
            </a:extLst>
          </p:cNvPr>
          <p:cNvCxnSpPr>
            <a:cxnSpLocks/>
          </p:cNvCxnSpPr>
          <p:nvPr/>
        </p:nvCxnSpPr>
        <p:spPr>
          <a:xfrm flipV="1">
            <a:off x="2738438" y="3471863"/>
            <a:ext cx="4038600" cy="126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384257-470F-CA45-8BC1-A963CD9E8A7C}"/>
              </a:ext>
            </a:extLst>
          </p:cNvPr>
          <p:cNvCxnSpPr>
            <a:cxnSpLocks/>
          </p:cNvCxnSpPr>
          <p:nvPr/>
        </p:nvCxnSpPr>
        <p:spPr>
          <a:xfrm flipV="1">
            <a:off x="5359677" y="4619625"/>
            <a:ext cx="1183999" cy="1047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8779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F40FE-E115-4CD6-C427-D44491FD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3C873-C628-5DF7-FD56-CB826D2D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set of test inputs</a:t>
            </a:r>
          </a:p>
          <a:p>
            <a:endParaRPr lang="en-US" dirty="0"/>
          </a:p>
          <a:p>
            <a:r>
              <a:rPr lang="en-US" dirty="0"/>
              <a:t>Loop through inputs</a:t>
            </a:r>
          </a:p>
          <a:p>
            <a:r>
              <a:rPr lang="en-US" dirty="0"/>
              <a:t>Put one new input each clock cycle</a:t>
            </a:r>
          </a:p>
          <a:p>
            <a:r>
              <a:rPr lang="en-US" dirty="0"/>
              <a:t>Testbench uses an initial construct</a:t>
            </a:r>
          </a:p>
          <a:p>
            <a:pPr lvl="1"/>
            <a:r>
              <a:rPr lang="en-US" dirty="0"/>
              <a:t>Enables sequential set of events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AE09C-305C-D94C-85CE-1B3305B0B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63CBDD-DD10-0D68-AAA4-429819C48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289" y="611546"/>
            <a:ext cx="3962530" cy="1643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05CD8D-4092-30BD-C2FF-E84C900D1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110" y="2407215"/>
            <a:ext cx="4467455" cy="42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647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7C8C-2E9A-3C4E-3077-A8A67C40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92209-4B04-2D99-F3D1-5177C5C9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Block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C3FCF-5AE3-B748-5852-EB0E74F3E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074920" cy="43298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 Runs once at time 0 of the simulation </a:t>
            </a:r>
          </a:p>
          <a:p>
            <a:pPr lvl="1"/>
            <a:r>
              <a:rPr lang="en-US" dirty="0"/>
              <a:t>(or at its scheduled start time if delayed).</a:t>
            </a:r>
          </a:p>
          <a:p>
            <a:r>
              <a:rPr lang="en-US" dirty="0"/>
              <a:t>Statements inside run sequentially</a:t>
            </a:r>
          </a:p>
          <a:p>
            <a:pPr lvl="1"/>
            <a:r>
              <a:rPr lang="en-US" dirty="0"/>
              <a:t>like a small program.</a:t>
            </a:r>
          </a:p>
          <a:p>
            <a:r>
              <a:rPr lang="en-US" dirty="0"/>
              <a:t> Not synthesizable for hardware</a:t>
            </a:r>
          </a:p>
          <a:p>
            <a:pPr lvl="1"/>
            <a:r>
              <a:rPr lang="en-US" dirty="0"/>
              <a:t>Simulation‑only construct.</a:t>
            </a:r>
          </a:p>
          <a:p>
            <a:pPr lvl="1"/>
            <a:r>
              <a:rPr lang="en-US" dirty="0"/>
              <a:t>Used for test benches</a:t>
            </a:r>
          </a:p>
          <a:p>
            <a:r>
              <a:rPr lang="en-US" dirty="0"/>
              <a:t>Concurrency:</a:t>
            </a:r>
          </a:p>
          <a:p>
            <a:pPr lvl="1"/>
            <a:r>
              <a:rPr lang="en-US" dirty="0"/>
              <a:t>initial blocks and always blocks.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12715-15BE-B59D-133A-FD5286909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FB895C-0345-5FF0-9D0C-B9B759DCD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889" y="328490"/>
            <a:ext cx="4955640" cy="554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0153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4EC1F-55F6-3760-8555-3B9C98699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A2057-3F08-B56C-4E49-989F3110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076E108-6E6E-6F88-664C-7F688C757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results outputs</a:t>
            </a:r>
          </a:p>
          <a:p>
            <a:r>
              <a:rPr lang="en-US" dirty="0"/>
              <a:t>Match expected values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257A8C-D5C7-78CB-4063-48906635B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992" y="2838435"/>
            <a:ext cx="8560106" cy="149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10401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13544</TotalTime>
  <Words>2376</Words>
  <Application>Microsoft Office PowerPoint</Application>
  <PresentationFormat>Widescreen</PresentationFormat>
  <Paragraphs>505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Calibri</vt:lpstr>
      <vt:lpstr>Cambria Math</vt:lpstr>
      <vt:lpstr>Courier New</vt:lpstr>
      <vt:lpstr>Wingdings</vt:lpstr>
      <vt:lpstr>Retrospect</vt:lpstr>
      <vt:lpstr>Unit 1  Basic Digital Logic</vt:lpstr>
      <vt:lpstr>Learning Objectives</vt:lpstr>
      <vt:lpstr>Outline</vt:lpstr>
      <vt:lpstr>Simple Example:  ReLU + Linear</vt:lpstr>
      <vt:lpstr>SystemVerilog Description</vt:lpstr>
      <vt:lpstr>Module Components in SV</vt:lpstr>
      <vt:lpstr>System Verilog vs Verilog</vt:lpstr>
      <vt:lpstr>System Verilog Data Types</vt:lpstr>
      <vt:lpstr>Block Diagram</vt:lpstr>
      <vt:lpstr>Outline</vt:lpstr>
      <vt:lpstr>Limitations of Combinational Logic</vt:lpstr>
      <vt:lpstr>Synchronous (Sequential) Logic</vt:lpstr>
      <vt:lpstr>Clock Signal</vt:lpstr>
      <vt:lpstr>Synchronous Logic Example:  Counter</vt:lpstr>
      <vt:lpstr>Key Components of a Module</vt:lpstr>
      <vt:lpstr>What is a State?</vt:lpstr>
      <vt:lpstr>Synchronous Logic as an FSM</vt:lpstr>
      <vt:lpstr>Building an FSM in Hardware</vt:lpstr>
      <vt:lpstr>Register Physical Model</vt:lpstr>
      <vt:lpstr>Register:  Discrete-Time Model</vt:lpstr>
      <vt:lpstr>Writing the Counter in System Verilog</vt:lpstr>
      <vt:lpstr>Counter Main Body</vt:lpstr>
      <vt:lpstr>Putting it Together</vt:lpstr>
      <vt:lpstr>Blocking vs. Non-Blocking</vt:lpstr>
      <vt:lpstr>Example Problem</vt:lpstr>
      <vt:lpstr>Try Answer on LLM Auto-Grader</vt:lpstr>
      <vt:lpstr>Solution:  FSM Model</vt:lpstr>
      <vt:lpstr>In-Class Exercise</vt:lpstr>
      <vt:lpstr>In-Class Exercise</vt:lpstr>
      <vt:lpstr>Outline</vt:lpstr>
      <vt:lpstr>Synchronous Version of ReLU + Linear</vt:lpstr>
      <vt:lpstr>Synchronous Module Declaration</vt:lpstr>
      <vt:lpstr>System Verilog Main Body</vt:lpstr>
      <vt:lpstr>Synchronous Block Diagram</vt:lpstr>
      <vt:lpstr>FSM Description</vt:lpstr>
      <vt:lpstr>A More Complex Example</vt:lpstr>
      <vt:lpstr>Problems with Single Cycle Implementation</vt:lpstr>
      <vt:lpstr>A Two Cycle Design</vt:lpstr>
      <vt:lpstr>Analysis</vt:lpstr>
      <vt:lpstr>In Class Problem  </vt:lpstr>
      <vt:lpstr>Outline</vt:lpstr>
      <vt:lpstr>Building the Hardware Roadmap</vt:lpstr>
      <vt:lpstr>Linear+ReLU Example</vt:lpstr>
      <vt:lpstr>Next Step:  Build a Testbench</vt:lpstr>
      <vt:lpstr>Testbenches are not Synthesized</vt:lpstr>
      <vt:lpstr>Testbench Declaration</vt:lpstr>
      <vt:lpstr>Test Vectors</vt:lpstr>
      <vt:lpstr>Initial Block</vt:lpstr>
      <vt:lpstr>Test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493</cp:revision>
  <cp:lastPrinted>2018-09-04T19:00:14Z</cp:lastPrinted>
  <dcterms:created xsi:type="dcterms:W3CDTF">2015-03-22T11:15:32Z</dcterms:created>
  <dcterms:modified xsi:type="dcterms:W3CDTF">2026-01-21T18:43:38Z</dcterms:modified>
</cp:coreProperties>
</file>